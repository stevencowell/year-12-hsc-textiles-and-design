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4d18908ef04b80" /><Relationship Type="http://schemas.openxmlformats.org/officeDocument/2006/relationships/extended-properties" Target="/docProps/app.xml" Id="R378800a72fba416b" /><Relationship Type="http://schemas.openxmlformats.org/officeDocument/2006/relationships/officeDocument" Target="/ppt/presentation.xml" Id="Rfd9c29d851b347c5" /></Relationships>
</file>

<file path=ppt/presentation.xml><?xml version="1.0" encoding="utf-8"?>
<p:presentation xmlns:p="http://schemas.openxmlformats.org/presentationml/2006/main">
  <p:sldMasterIdLst>
    <p:sldMasterId xmlns:r="http://schemas.openxmlformats.org/officeDocument/2006/relationships" id="2147483648" r:id="Rb34b467677c04e9e"/>
  </p:sldMasterIdLst>
  <p:notesMasterIdLst>
    <p:notesMasterId xmlns:r="http://schemas.openxmlformats.org/officeDocument/2006/relationships" r:id="R2b85fed5830d4415"/>
  </p:notesMasterIdLst>
  <p:sldIdLst>
    <p:sldId xmlns:r="http://schemas.openxmlformats.org/officeDocument/2006/relationships" id="256" r:id="R11025b7aa92c4c79"/>
    <p:sldId xmlns:r="http://schemas.openxmlformats.org/officeDocument/2006/relationships" id="257" r:id="R3ba88daefccb4ac5"/>
    <p:sldId xmlns:r="http://schemas.openxmlformats.org/officeDocument/2006/relationships" id="258" r:id="R3be11a62b65343be"/>
    <p:sldId xmlns:r="http://schemas.openxmlformats.org/officeDocument/2006/relationships" id="259" r:id="R70d0210a1d4247e0"/>
    <p:sldId xmlns:r="http://schemas.openxmlformats.org/officeDocument/2006/relationships" id="260" r:id="R3ae1b80a012f4c8f"/>
    <p:sldId xmlns:r="http://schemas.openxmlformats.org/officeDocument/2006/relationships" id="261" r:id="R8109ea54bd2a4a64"/>
    <p:sldId xmlns:r="http://schemas.openxmlformats.org/officeDocument/2006/relationships" id="262" r:id="Ra10392bf20c64f9c"/>
    <p:sldId xmlns:r="http://schemas.openxmlformats.org/officeDocument/2006/relationships" id="263" r:id="R9aebb484d64e4e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0ccdf3fd4b8450a" /><Relationship Type="http://schemas.openxmlformats.org/officeDocument/2006/relationships/slideMaster" Target="/ppt/slideMasters/slideMaster1.xml" Id="Rb34b467677c04e9e" /><Relationship Type="http://schemas.openxmlformats.org/officeDocument/2006/relationships/notesMaster" Target="/ppt/notesMasters/notesMaster1.xml" Id="R2b85fed5830d4415" /><Relationship Type="http://schemas.openxmlformats.org/officeDocument/2006/relationships/presProps" Target="/ppt/presProps.xml" Id="R70879c862df845fb" /><Relationship Type="http://schemas.openxmlformats.org/officeDocument/2006/relationships/viewProps" Target="/ppt/viewProps.xml" Id="Rdfcfec3cf84c400a" /><Relationship Type="http://schemas.openxmlformats.org/officeDocument/2006/relationships/tableStyles" Target="/ppt/tableStyles.xml" Id="Rbc74bfca0cf24f98" /><Relationship Type="http://schemas.openxmlformats.org/officeDocument/2006/relationships/slide" Target="/ppt/slides/slide1.xml" Id="R11025b7aa92c4c79" /><Relationship Type="http://schemas.openxmlformats.org/officeDocument/2006/relationships/slide" Target="/ppt/slides/slide2.xml" Id="R3ba88daefccb4ac5" /><Relationship Type="http://schemas.openxmlformats.org/officeDocument/2006/relationships/slide" Target="/ppt/slides/slide3.xml" Id="R3be11a62b65343be" /><Relationship Type="http://schemas.openxmlformats.org/officeDocument/2006/relationships/slide" Target="/ppt/slides/slide4.xml" Id="R70d0210a1d4247e0" /><Relationship Type="http://schemas.openxmlformats.org/officeDocument/2006/relationships/slide" Target="/ppt/slides/slide5.xml" Id="R3ae1b80a012f4c8f" /><Relationship Type="http://schemas.openxmlformats.org/officeDocument/2006/relationships/slide" Target="/ppt/slides/slide6.xml" Id="R8109ea54bd2a4a64" /><Relationship Type="http://schemas.openxmlformats.org/officeDocument/2006/relationships/slide" Target="/ppt/slides/slide7.xml" Id="Ra10392bf20c64f9c" /><Relationship Type="http://schemas.openxmlformats.org/officeDocument/2006/relationships/slide" Target="/ppt/slides/slide8.xml" Id="R9aebb484d64e4e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c0f248886e4e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1f6777ff7e43ba" /><Relationship Type="http://schemas.openxmlformats.org/officeDocument/2006/relationships/notesMaster" Target="/ppt/notesMasters/notesMaster1.xml" Id="R81d56d3dc1bd43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dadfda37ec4765" /><Relationship Type="http://schemas.openxmlformats.org/officeDocument/2006/relationships/notesMaster" Target="/ppt/notesMasters/notesMaster1.xml" Id="R9b74b421ac4241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c305967f294e63" /><Relationship Type="http://schemas.openxmlformats.org/officeDocument/2006/relationships/notesMaster" Target="/ppt/notesMasters/notesMaster1.xml" Id="R51aa10bd1de043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3881e59d714b67" /><Relationship Type="http://schemas.openxmlformats.org/officeDocument/2006/relationships/notesMaster" Target="/ppt/notesMasters/notesMaster1.xml" Id="Rbd22fab24cd84c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29622fec0640e6" /><Relationship Type="http://schemas.openxmlformats.org/officeDocument/2006/relationships/notesMaster" Target="/ppt/notesMasters/notesMaster1.xml" Id="R74282797fcf448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ff26fa2b654d01" /><Relationship Type="http://schemas.openxmlformats.org/officeDocument/2006/relationships/notesMaster" Target="/ppt/notesMasters/notesMaster1.xml" Id="R95771611d5904c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78e06acf134b47" /><Relationship Type="http://schemas.openxmlformats.org/officeDocument/2006/relationships/notesMaster" Target="/ppt/notesMasters/notesMaster1.xml" Id="R43a67f44f5e44ff1"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e00671154045c7" /><Relationship Type="http://schemas.openxmlformats.org/officeDocument/2006/relationships/notesMaster" Target="/ppt/notesMasters/notesMaster1.xml" Id="Rd65498d5b10f41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retrieval question and give students quiet thinking time. Frame Module 15 as part of the concurrent Year 12 strands of theory, Major Textiles Project thinking and examination preparation.</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SRC-WWHS-TERM3-2024: authorised course source.</a:t>
            </a:r>
          </a:p>
          <a:p xmlns:a="http://schemas.openxmlformats.org/drawingml/2006/main">
            <a:r>
              <a:t>- SRC-WWHS-MTP-PROGRAM: authorised course source.</a:t>
            </a:r>
          </a:p>
          <a:p xmlns:a="http://schemas.openxmlformats.org/drawingml/2006/main">
            <a:r>
              <a:t>- SRC-WWHS-PROGRAM-INTRO: authorised course source.</a:t>
            </a:r>
          </a:p>
          <a:p xmlns:a="http://schemas.openxmlformats.org/drawingml/2006/main">
            <a:r>
              <a:t>- course-content.js: m15s01, local source-grounded learning package.</a:t>
            </a:r>
          </a:p>
          <a:p xmlns:a="http://schemas.openxmlformats.org/drawingml/2006/main">
            <a:r>
              <a:t>- Generated visual: assets/images/m15s01.png,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Preview the three named sections as one reasoning sequence. Ask students to listen for the evidence relationship that carries from one section into the next.</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SRC-WWHS-TERM3-2024: authorised course source.</a:t>
            </a:r>
          </a:p>
          <a:p xmlns:a="http://schemas.openxmlformats.org/drawingml/2006/main">
            <a:r>
              <a:t>- SRC-WWHS-MTP-PROGRAM: authorised course source.</a:t>
            </a:r>
          </a:p>
          <a:p xmlns:a="http://schemas.openxmlformats.org/drawingml/2006/main">
            <a:r>
              <a:t>- SRC-WWHS-PROGRAM-INTRO: authorised course source.</a:t>
            </a:r>
          </a:p>
          <a:p xmlns:a="http://schemas.openxmlformats.org/drawingml/2006/main">
            <a:r>
              <a:t>- course-content.js: m15,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SRC-WWHS-TERM3-2024: authorised course source.</a:t>
            </a:r>
          </a:p>
          <a:p xmlns:a="http://schemas.openxmlformats.org/drawingml/2006/main">
            <a:r>
              <a:t>- SRC-WWHS-MTP-PROGRAM: authorised course source.</a:t>
            </a:r>
          </a:p>
          <a:p xmlns:a="http://schemas.openxmlformats.org/drawingml/2006/main">
            <a:r>
              <a:t>- SRC-WWHS-PROGRAM-INTRO: authorised course source.</a:t>
            </a:r>
          </a:p>
          <a:p xmlns:a="http://schemas.openxmlformats.org/drawingml/2006/main">
            <a:r>
              <a:t>- course-content.js: m15s01, local source-grounded learning package.</a:t>
            </a:r>
          </a:p>
          <a:p xmlns:a="http://schemas.openxmlformats.org/drawingml/2006/main">
            <a:r>
              <a:t>- Generated visual: assets/images/m15s01.png,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SRC-WWHS-TERM3-2024: authorised course source.</a:t>
            </a:r>
          </a:p>
          <a:p xmlns:a="http://schemas.openxmlformats.org/drawingml/2006/main">
            <a:r>
              <a:t>- SRC-WWHS-MTP-PROGRAM: authorised course source.</a:t>
            </a:r>
          </a:p>
          <a:p xmlns:a="http://schemas.openxmlformats.org/drawingml/2006/main">
            <a:r>
              <a:t>- SRC-WWHS-PROGRAM-INTRO: authorised course source.</a:t>
            </a:r>
          </a:p>
          <a:p xmlns:a="http://schemas.openxmlformats.org/drawingml/2006/main">
            <a:r>
              <a:t>- course-content.js: m15s02, local source-grounded learning package.</a:t>
            </a:r>
          </a:p>
          <a:p xmlns:a="http://schemas.openxmlformats.org/drawingml/2006/main">
            <a:r>
              <a:t>- Generated visual: assets/images/m15s02.png,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 relationships in plain language, then pause on the image. Ask students what they can observe directly and which conclusion still needs source evidence or a reasoned link.</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SRC-WWHS-TERM3-2024: authorised course source.</a:t>
            </a:r>
          </a:p>
          <a:p xmlns:a="http://schemas.openxmlformats.org/drawingml/2006/main">
            <a:r>
              <a:t>- SRC-WWHS-MTP-PROGRAM: authorised course source.</a:t>
            </a:r>
          </a:p>
          <a:p xmlns:a="http://schemas.openxmlformats.org/drawingml/2006/main">
            <a:r>
              <a:t>- SRC-WWHS-PROGRAM-INTRO: authorised course source.</a:t>
            </a:r>
          </a:p>
          <a:p xmlns:a="http://schemas.openxmlformats.org/drawingml/2006/main">
            <a:r>
              <a:t>- course-content.js: m15s03, local source-grounded learning package.</a:t>
            </a:r>
          </a:p>
          <a:p xmlns:a="http://schemas.openxmlformats.org/drawingml/2006/main">
            <a:r>
              <a:t>- Generated visual: assets/images/m15s03.png,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formative pause. Invite one precise sentence for each prompt, then send students back to the matching theory when their explanation names a fact without showing the relationship.</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SRC-WWHS-TERM3-2024: authorised course source.</a:t>
            </a:r>
          </a:p>
          <a:p xmlns:a="http://schemas.openxmlformats.org/drawingml/2006/main">
            <a:r>
              <a:t>- SRC-WWHS-MTP-PROGRAM: authorised course source.</a:t>
            </a:r>
          </a:p>
          <a:p xmlns:a="http://schemas.openxmlformats.org/drawingml/2006/main">
            <a:r>
              <a:t>- SRC-WWHS-PROGRAM-INTRO: authorised course source.</a:t>
            </a:r>
          </a:p>
          <a:p xmlns:a="http://schemas.openxmlformats.org/drawingml/2006/main">
            <a:r>
              <a:t>- course-content.js: m15,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the response process without supplying a finished answer. Keep the talk track moving from the command term to relevant evidence, connected explanation and a final check against the prompt.</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SRC-WWHS-TERM3-2024: authorised course source.</a:t>
            </a:r>
          </a:p>
          <a:p xmlns:a="http://schemas.openxmlformats.org/drawingml/2006/main">
            <a:r>
              <a:t>- SRC-WWHS-MTP-PROGRAM: authorised course source.</a:t>
            </a:r>
          </a:p>
          <a:p xmlns:a="http://schemas.openxmlformats.org/drawingml/2006/main">
            <a:r>
              <a:t>- SRC-WWHS-PROGRAM-INTRO: authorised course source.</a:t>
            </a:r>
          </a:p>
          <a:p xmlns:a="http://schemas.openxmlformats.org/drawingml/2006/main">
            <a:r>
              <a:t>- course-content.js: m15s03, local source-grounded learning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with one spoken or written exit response. Direct students to save one formative record in the module and carry only purposeful evidence into My folio; no formal submission condition is asserted here.</a:t>
            </a:r>
          </a:p>
          <a:p xmlns:a="http://schemas.openxmlformats.org/drawingml/2006/main">
            <a:r>
              <a:t/>
            </a:r>
            <a:endParaRPr/>
          </a:p>
          <a:p xmlns:a="http://schemas.openxmlformats.org/drawingml/2006/main">
            <a:r>
              <a:t>[Sources]</a:t>
            </a:r>
          </a:p>
          <a:p xmlns:a="http://schemas.openxmlformats.org/drawingml/2006/main">
            <a:r>
              <a:t>- SRC-WWHS-SYL-2013: authorised course source.</a:t>
            </a:r>
          </a:p>
          <a:p xmlns:a="http://schemas.openxmlformats.org/drawingml/2006/main">
            <a:r>
              <a:t>- SRC-WWHS-SCOPE-2023-24: authorised course source.</a:t>
            </a:r>
          </a:p>
          <a:p xmlns:a="http://schemas.openxmlformats.org/drawingml/2006/main">
            <a:r>
              <a:t>- SRC-WWHS-TERM3-2024: authorised course source.</a:t>
            </a:r>
          </a:p>
          <a:p xmlns:a="http://schemas.openxmlformats.org/drawingml/2006/main">
            <a:r>
              <a:t>- SRC-WWHS-MTP-PROGRAM: authorised course source.</a:t>
            </a:r>
          </a:p>
          <a:p xmlns:a="http://schemas.openxmlformats.org/drawingml/2006/main">
            <a:r>
              <a:t>- SRC-WWHS-PROGRAM-INTRO: authorised course source.</a:t>
            </a:r>
          </a:p>
          <a:p xmlns:a="http://schemas.openxmlformats.org/drawingml/2006/main">
            <a:r>
              <a:t>- course-content.js: m15s01, local source-grounded learning package.</a:t>
            </a:r>
          </a:p>
          <a:p xmlns:a="http://schemas.openxmlformats.org/drawingml/2006/main">
            <a:r>
              <a:t>- Generated visual: assets/images/m15s01.png, image-generation tool, 30 August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b77e7ee7ca4e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8197a0cb5f42be" /><Relationship Type="http://schemas.openxmlformats.org/officeDocument/2006/relationships/slideLayout" Target="/ppt/slideLayouts/slideLayout1.xml" Id="Rbba7114c371d48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a7114c371d48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68243c44194b5b" /><Relationship Type="http://schemas.openxmlformats.org/officeDocument/2006/relationships/image" Target="/ppt/media/image.jpeg" Id="Rdc1292a9a2244c67" /><Relationship Type="http://schemas.openxmlformats.org/officeDocument/2006/relationships/notesSlide" Target="/ppt/notesSlides/notesSlide1.xml" Id="Raf27cd1fb87f4d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e40df5db32b4cd7" /><Relationship Type="http://schemas.openxmlformats.org/officeDocument/2006/relationships/notesSlide" Target="/ppt/notesSlides/notesSlide2.xml" Id="Ra3e52c945a6142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8e5e1b802043b4" /><Relationship Type="http://schemas.openxmlformats.org/officeDocument/2006/relationships/image" Target="/ppt/media/image2.jpeg" Id="R6d0513ce7d0247a2" /><Relationship Type="http://schemas.openxmlformats.org/officeDocument/2006/relationships/notesSlide" Target="/ppt/notesSlides/notesSlide3.xml" Id="Rd7db203bea07490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b761cd156304aca" /><Relationship Type="http://schemas.openxmlformats.org/officeDocument/2006/relationships/image" Target="/ppt/media/image3.jpeg" Id="R6bfcd4c16a014331" /><Relationship Type="http://schemas.openxmlformats.org/officeDocument/2006/relationships/notesSlide" Target="/ppt/notesSlides/notesSlide4.xml" Id="Rdef7864a543e4c0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2f498c0bb30425c" /><Relationship Type="http://schemas.openxmlformats.org/officeDocument/2006/relationships/image" Target="/ppt/media/image4.jpeg" Id="R12c880f2d7574094" /><Relationship Type="http://schemas.openxmlformats.org/officeDocument/2006/relationships/notesSlide" Target="/ppt/notesSlides/notesSlide5.xml" Id="R4bf524d85d8945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724660fb3cc4e7d" /><Relationship Type="http://schemas.openxmlformats.org/officeDocument/2006/relationships/notesSlide" Target="/ppt/notesSlides/notesSlide6.xml" Id="R25996cda2f214b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da073f067e445e" /><Relationship Type="http://schemas.openxmlformats.org/officeDocument/2006/relationships/notesSlide" Target="/ppt/notesSlides/notesSlide7.xml" Id="Re69252caf42f4e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dea062a4462490d" /><Relationship Type="http://schemas.openxmlformats.org/officeDocument/2006/relationships/image" Target="/ppt/media/image.jpeg" Id="R01e4e321eb7f4725" /><Relationship Type="http://schemas.openxmlformats.org/officeDocument/2006/relationships/notesSlide" Target="/ppt/notesSlides/notesSlide8.xml" Id="Rec03b88e3985454f" /></Relationships>
</file>

<file path=ppt/slides/slide1.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1B4AE411-F9B7-40C1-95A6-EFB5A398EE0B}"/>
              </a:ext>
            </a:extLst>
          </p:cNvPr>
          <p:cNvSpPr>
            <a:spLocks xmlns:a="http://schemas.openxmlformats.org/drawingml/2006/main" noGrp="1"/>
          </p:cNvSpPr>
          <p:nvPr/>
        </p:nvSpPr>
        <p:spPr>
          <a:xfrm xmlns:a="http://schemas.openxmlformats.org/drawingml/2006/main">
            <a:off x="590550" y="1238250"/>
            <a:ext cx="4953000" cy="21907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5000"/>
              </a:lnSpc>
              <a:buNone/>
              <a:defRPr sz="5000" b="1">
                <a:solidFill>
                  <a:srgbClr val="173126"/>
                </a:solidFill>
                <a:latin typeface="Aptos"/>
                <a:ea typeface="Aptos"/>
                <a:cs typeface="Aptos"/>
              </a:defRPr>
            </a:pPr>
            <a:r>
              <a:rPr sz="5000" b="1">
                <a:solidFill>
                  <a:srgbClr val="173126"/>
                </a:solidFill>
                <a:latin typeface="Aptos"/>
                <a:ea typeface="Aptos"/>
                <a:cs typeface="Aptos"/>
              </a:rPr>
              <a:t>MTP Handoff and HSC Synthesis</a:t>
            </a:r>
          </a:p>
        </p:txBody>
      </p:sp>
      <p:sp>
        <p:nvSpPr>
          <p:cNvPr id="2" name="Subtitle-4-2">
            <a:extLst xmlns:a="http://schemas.openxmlformats.org/drawingml/2006/main">
              <a:ext uri="{FF2B5EF4-FFF2-40B4-BE49-F238E27FC236}">
                <a16:creationId xmlns:a16="http://schemas.microsoft.com/office/drawing/2014/main" id="{5DF9AAC8-8087-4CFE-AAFA-BF4462107E30}"/>
              </a:ext>
            </a:extLst>
          </p:cNvPr>
          <p:cNvSpPr>
            <a:spLocks xmlns:a="http://schemas.openxmlformats.org/drawingml/2006/main" noGrp="1"/>
          </p:cNvSpPr>
          <p:nvPr/>
        </p:nvSpPr>
        <p:spPr>
          <a:xfrm xmlns:a="http://schemas.openxmlformats.org/drawingml/2006/main">
            <a:off x="628650" y="3571875"/>
            <a:ext cx="4762500" cy="1066800"/>
          </a:xfrm>
          <a:prstGeom xmlns:a="http://schemas.openxmlformats.org/drawingml/2006/main" prst="rect">
            <a:avLst/>
          </a:prstGeom>
        </p:spPr>
        <p:txBody>
          <a:bodyPr xmlns:a="http://schemas.openxmlformats.org/drawingml/2006/main" lIns="38100" tIns="38100" rIns="38100" bIns="38100" anchor="t">
            <a:normAutofit fontScale="94203"/>
          </a:bodyPr>
          <a:lstStyle xmlns:a="http://schemas.openxmlformats.org/drawingml/2006/main"/>
          <a:p xmlns:a="http://schemas.openxmlformats.org/drawingml/2006/main">
            <a:pPr algn="l">
              <a:lnSpc>
                <a:spcPct val="115000"/>
              </a:lnSpc>
              <a:buNone/>
              <a:defRPr sz="2000" b="0">
                <a:solidFill>
                  <a:srgbClr val="5A665F"/>
                </a:solidFill>
                <a:latin typeface="Aptos"/>
                <a:ea typeface="Aptos"/>
                <a:cs typeface="Aptos"/>
              </a:defRPr>
            </a:pPr>
            <a:r>
              <a:rPr sz="2000" b="0">
                <a:solidFill>
                  <a:srgbClr val="5A665F"/>
                </a:solidFill>
                <a:latin typeface="Aptos"/>
                <a:ea typeface="Aptos"/>
                <a:cs typeface="Aptos"/>
              </a:rPr>
              <a:t>Complete a careful evidence handoff for the Major Textiles Project, plan responses from command terms, and connect Design…</a:t>
            </a:r>
          </a:p>
        </p:txBody>
      </p:sp>
      <p:sp>
        <p:nvSpPr>
          <p:cNvPr id="3" name="Subtitle-4-3">
            <a:extLst xmlns:a="http://schemas.openxmlformats.org/drawingml/2006/main">
              <a:ext uri="{FF2B5EF4-FFF2-40B4-BE49-F238E27FC236}">
                <a16:creationId xmlns:a16="http://schemas.microsoft.com/office/drawing/2014/main" id="{9B62F67D-37CE-4D67-A50E-91C62081C5BE}"/>
              </a:ext>
            </a:extLst>
          </p:cNvPr>
          <p:cNvSpPr>
            <a:spLocks xmlns:a="http://schemas.openxmlformats.org/drawingml/2006/main" noGrp="1"/>
          </p:cNvSpPr>
          <p:nvPr/>
        </p:nvSpPr>
        <p:spPr>
          <a:xfrm xmlns:a="http://schemas.openxmlformats.org/drawingml/2006/main">
            <a:off x="628650" y="781050"/>
            <a:ext cx="4381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YEAR 12 TEXTILES AND DESIGN · MODULE 15 · TERM 3</a:t>
            </a:r>
          </a:p>
        </p:txBody>
      </p:sp>
      <p:sp>
        <p:nvSpPr>
          <p:cNvPr id="5" name="Rectangle: Rounded Corners 4">
            <a:extLst xmlns:a="http://schemas.openxmlformats.org/drawingml/2006/main">
              <a:ext uri="{FF2B5EF4-FFF2-40B4-BE49-F238E27FC236}">
                <a16:creationId xmlns:a16="http://schemas.microsoft.com/office/drawing/2014/main" id="{D7CC5B55-F07E-4B51-A25F-F034696FA0CB}"/>
              </a:ext>
            </a:extLst>
          </p:cNvPr>
          <p:cNvSpPr>
            <a:spLocks xmlns:a="http://schemas.openxmlformats.org/drawingml/2006/main" noGrp="1"/>
          </p:cNvSpPr>
          <p:nvPr/>
        </p:nvSpPr>
        <p:spPr>
          <a:xfrm xmlns:a="http://schemas.openxmlformats.org/drawingml/2006/main">
            <a:off x="5857875" y="438150"/>
            <a:ext cx="5810250" cy="5676900"/>
          </a:xfrm>
          <a:prstGeom xmlns:a="http://schemas.openxmlformats.org/drawingml/2006/main" prst="roundRect">
            <a:avLst>
              <a:gd name="adj" fmla="val 2013"/>
            </a:avLst>
          </a:prstGeom>
          <a:noFill xmlns:a="http://schemas.openxmlformats.org/drawingml/2006/main"/>
          <a:ln xmlns:a="http://schemas.openxmlformats.org/drawingml/2006/main" w="9525">
            <a:solidFill>
              <a:srgbClr val="D8941C"/>
            </a:solidFill>
            <a:prstDash val="solid"/>
          </a:ln>
        </p:spPr>
      </p:sp>
      <p:pic>
        <p:nvPicPr>
          <p:cNvPr id="13" name="Picture 12"/>
          <p:cNvPicPr>
            <a:picLocks xmlns:a="http://schemas.openxmlformats.org/drawingml/2006/main" noChangeAspect="1"/>
          </p:cNvPicPr>
          <p:nvPr/>
        </p:nvPicPr>
        <p:blipFill>
          <a:blip xmlns:r="http://schemas.openxmlformats.org/officeDocument/2006/relationships" xmlns:a="http://schemas.openxmlformats.org/drawingml/2006/main" r:embed="Rdc1292a9a2244c67"/>
          <a:srcRect xmlns:a="http://schemas.openxmlformats.org/drawingml/2006/main" l="0" t="0" r="0" b="0"/>
          <a:stretch xmlns:a="http://schemas.openxmlformats.org/drawingml/2006/main">
            <a:fillRect l="0" t="0" r="0" b="0"/>
          </a:stretch>
        </p:blipFill>
        <p:spPr>
          <a:xfrm xmlns:a="http://schemas.openxmlformats.org/drawingml/2006/main" flipH="0" flipV="0">
            <a:off x="6048375" y="628650"/>
            <a:ext cx="5429250" cy="5295900"/>
          </a:xfrm>
          <a:prstGeom xmlns:a="http://schemas.openxmlformats.org/drawingml/2006/main" prst="roundRect">
            <a:avLst/>
          </a:prstGeom>
        </p:spPr>
      </p:pic>
      <p:sp>
        <p:nvSpPr>
          <p:cNvPr id="7" name="Rectangle 6">
            <a:extLst xmlns:a="http://schemas.openxmlformats.org/drawingml/2006/main">
              <a:ext uri="{FF2B5EF4-FFF2-40B4-BE49-F238E27FC236}">
                <a16:creationId xmlns:a16="http://schemas.microsoft.com/office/drawing/2014/main" id="{6D1F5FE7-ECD3-4151-887C-C288444A3915}"/>
              </a:ext>
            </a:extLst>
          </p:cNvPr>
          <p:cNvSpPr>
            <a:spLocks xmlns:a="http://schemas.openxmlformats.org/drawingml/2006/main" noGrp="1"/>
          </p:cNvSpPr>
          <p:nvPr/>
        </p:nvSpPr>
        <p:spPr>
          <a:xfrm xmlns:a="http://schemas.openxmlformats.org/drawingml/2006/main">
            <a:off x="628650" y="4953000"/>
            <a:ext cx="4762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ctr">
            <a:normAutofit fontScale="91515"/>
          </a:bodyPr>
          <a:lstStyle xmlns:a="http://schemas.openxmlformats.org/drawingml/2006/main"/>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BEFORE YOU BEGIN</a:t>
            </a:r>
          </a:p>
          <a:p xmlns:a="http://schemas.openxmlformats.org/drawingml/2006/main">
            <a:pPr algn="l">
              <a:lnSpc>
                <a:spcPct val="105000"/>
              </a:lnSpc>
              <a:buNone/>
              <a:defRPr sz="1800" b="0">
                <a:solidFill>
                  <a:srgbClr val="173126"/>
                </a:solidFill>
                <a:latin typeface="Aptos"/>
                <a:ea typeface="Aptos"/>
                <a:cs typeface="Aptos"/>
              </a:defRPr>
            </a:pPr>
            <a:r>
              <a:rPr sz="1800" b="0">
                <a:solidFill>
                  <a:srgbClr val="173126"/>
                </a:solidFill>
                <a:latin typeface="Aptos"/>
                <a:ea typeface="Aptos"/>
                <a:cs typeface="Aptos"/>
              </a:rPr>
              <a:t>What is the main purpose of comparing the final textile item with its supporting documentation during a…</a:t>
            </a:r>
          </a:p>
        </p:txBody>
      </p:sp>
    </p:spTree>
    <p:extLst>
      <p:ext uri="{BB962C8B-B14F-4D97-AF65-F5344CB8AC3E}">
        <p14:creationId xmlns:p14="http://schemas.microsoft.com/office/powerpoint/2010/main" val="1728781570"/>
      </p:ext>
    </p:extLst>
  </p:cSld>
</p:sld>
</file>

<file path=ppt/slides/slide2.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D16595B7-F5B3-45CC-A1D0-60A5F8F46B0A}"/>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2</a:t>
            </a:r>
          </a:p>
        </p:txBody>
      </p:sp>
      <p:sp>
        <p:nvSpPr>
          <p:cNvPr id="2" name="Title-10-3">
            <a:extLst xmlns:a="http://schemas.openxmlformats.org/drawingml/2006/main">
              <a:ext uri="{FF2B5EF4-FFF2-40B4-BE49-F238E27FC236}">
                <a16:creationId xmlns:a16="http://schemas.microsoft.com/office/drawing/2014/main" id="{A5C0B864-CE5F-40EB-BFB1-124C7F8209DC}"/>
              </a:ext>
            </a:extLst>
          </p:cNvPr>
          <p:cNvSpPr>
            <a:spLocks xmlns:a="http://schemas.openxmlformats.org/drawingml/2006/main" noGrp="1"/>
          </p:cNvSpPr>
          <p:nvPr/>
        </p:nvSpPr>
        <p:spPr>
          <a:xfrm xmlns:a="http://schemas.openxmlformats.org/drawingml/2006/main">
            <a:off x="571500" y="400050"/>
            <a:ext cx="10477500" cy="1047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Three sections build MTP Handoff and HSC Synthesis</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80EBB6E6-D29B-4511-A6D6-6E24B45A62D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77EECBE0-D327-4135-9672-CA69C10CF3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AC21CEC6-5855-4BE0-ABD8-07F846693637}"/>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55F5CC1A-B730-48DE-B337-081BD18AF1D1}"/>
              </a:ext>
            </a:extLst>
          </p:cNvPr>
          <p:cNvSpPr>
            <a:spLocks xmlns:a="http://schemas.openxmlformats.org/drawingml/2006/main" noGrp="1"/>
          </p:cNvSpPr>
          <p:nvPr/>
        </p:nvSpPr>
        <p:spPr>
          <a:xfrm xmlns:a="http://schemas.openxmlformats.org/drawingml/2006/main">
            <a:off x="9334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CC4FDA11-53DB-407A-BDEC-FBE50DB65E61}"/>
              </a:ext>
            </a:extLst>
          </p:cNvPr>
          <p:cNvSpPr>
            <a:spLocks xmlns:a="http://schemas.openxmlformats.org/drawingml/2006/main" noGrp="1"/>
          </p:cNvSpPr>
          <p:nvPr/>
        </p:nvSpPr>
        <p:spPr>
          <a:xfrm xmlns:a="http://schemas.openxmlformats.org/drawingml/2006/main">
            <a:off x="45529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740F3AC6-594B-429C-81EE-E57F9069D6D9}"/>
              </a:ext>
            </a:extLst>
          </p:cNvPr>
          <p:cNvSpPr>
            <a:spLocks xmlns:a="http://schemas.openxmlformats.org/drawingml/2006/main" noGrp="1"/>
          </p:cNvSpPr>
          <p:nvPr/>
        </p:nvSpPr>
        <p:spPr>
          <a:xfrm xmlns:a="http://schemas.openxmlformats.org/drawingml/2006/main">
            <a:off x="8172450" y="2171700"/>
            <a:ext cx="666750" cy="57150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2800" b="1">
                <a:solidFill>
                  <a:srgbClr val="D8941C"/>
                </a:solidFill>
                <a:latin typeface="Aptos"/>
                <a:ea typeface="Aptos"/>
                <a:cs typeface="Aptos"/>
              </a:defRPr>
            </a:pPr>
            <a:r>
              <a:rPr sz="28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2DCFFC81-D22B-4BC1-B1F8-6DFA762662D6}"/>
              </a:ext>
            </a:extLst>
          </p:cNvPr>
          <p:cNvSpPr>
            <a:spLocks xmlns:a="http://schemas.openxmlformats.org/drawingml/2006/main" noGrp="1"/>
          </p:cNvSpPr>
          <p:nvPr/>
        </p:nvSpPr>
        <p:spPr>
          <a:xfrm xmlns:a="http://schemas.openxmlformats.org/drawingml/2006/main">
            <a:off x="933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MTP completion and evidence handoff</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1" name="Text-Placeholder-16-12">
            <a:extLst xmlns:a="http://schemas.openxmlformats.org/drawingml/2006/main">
              <a:ext uri="{FF2B5EF4-FFF2-40B4-BE49-F238E27FC236}">
                <a16:creationId xmlns:a16="http://schemas.microsoft.com/office/drawing/2014/main" id="{B6ACFAD4-DA68-47CD-BF12-9531E07EEC1D}"/>
              </a:ext>
            </a:extLst>
          </p:cNvPr>
          <p:cNvSpPr>
            <a:spLocks xmlns:a="http://schemas.openxmlformats.org/drawingml/2006/main" noGrp="1"/>
          </p:cNvSpPr>
          <p:nvPr/>
        </p:nvSpPr>
        <p:spPr>
          <a:xfrm xmlns:a="http://schemas.openxmlformats.org/drawingml/2006/main">
            <a:off x="45529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Command terms and response planning</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2" name="Text-Placeholder-16-13">
            <a:extLst xmlns:a="http://schemas.openxmlformats.org/drawingml/2006/main">
              <a:ext uri="{FF2B5EF4-FFF2-40B4-BE49-F238E27FC236}">
                <a16:creationId xmlns:a16="http://schemas.microsoft.com/office/drawing/2014/main" id="{78B5E93A-F297-48EF-AAD3-C5B7DD87F0E4}"/>
              </a:ext>
            </a:extLst>
          </p:cNvPr>
          <p:cNvSpPr>
            <a:spLocks xmlns:a="http://schemas.openxmlformats.org/drawingml/2006/main" noGrp="1"/>
          </p:cNvSpPr>
          <p:nvPr/>
        </p:nvSpPr>
        <p:spPr>
          <a:xfrm xmlns:a="http://schemas.openxmlformats.org/drawingml/2006/main">
            <a:off x="8172450" y="2781300"/>
            <a:ext cx="2419350" cy="213360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Whole-course synthesis and revision</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08000"/>
              </a:lnSpc>
              <a:buNone/>
              <a:defRPr sz="1600" b="0">
                <a:solidFill>
                  <a:srgbClr val="173126"/>
                </a:solidFill>
                <a:latin typeface="Aptos"/>
                <a:ea typeface="Aptos"/>
                <a:cs typeface="Aptos"/>
              </a:defRPr>
            </a:pPr>
            <a:r>
              <a:rPr sz="1600" b="0">
                <a:solidFill>
                  <a:srgbClr val="173126"/>
                </a:solidFill>
                <a:latin typeface="Aptos"/>
                <a:ea typeface="Aptos"/>
                <a:cs typeface="Aptos"/>
              </a:rPr>
              <a:t>Connect the key idea to visible evidence and a supported textile decision.</a:t>
            </a:r>
          </a:p>
        </p:txBody>
      </p:sp>
      <p:sp>
        <p:nvSpPr>
          <p:cNvPr id="19" name="Rectangle 18">
            <a:extLst xmlns:a="http://schemas.openxmlformats.org/drawingml/2006/main">
              <a:ext uri="{FF2B5EF4-FFF2-40B4-BE49-F238E27FC236}">
                <a16:creationId xmlns:a16="http://schemas.microsoft.com/office/drawing/2014/main" id="{BB159F23-A0CC-49B4-83D4-61338CCA10C6}"/>
              </a:ext>
            </a:extLst>
          </p:cNvPr>
          <p:cNvSpPr>
            <a:spLocks xmlns:a="http://schemas.openxmlformats.org/drawingml/2006/main" noGrp="1"/>
          </p:cNvSpPr>
          <p:nvPr/>
        </p:nvSpPr>
        <p:spPr>
          <a:xfrm xmlns:a="http://schemas.openxmlformats.org/drawingml/2006/main">
            <a:off x="590550" y="15240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95238"/>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Move from source-grounded knowledge → visible evidence → a supported textile decision.</a:t>
            </a:r>
          </a:p>
        </p:txBody>
      </p:sp>
      <p:sp>
        <p:nvSpPr>
          <p:cNvPr id="20" name="Rectangle: Rounded Corners 19">
            <a:extLst xmlns:a="http://schemas.openxmlformats.org/drawingml/2006/main">
              <a:ext uri="{FF2B5EF4-FFF2-40B4-BE49-F238E27FC236}">
                <a16:creationId xmlns:a16="http://schemas.microsoft.com/office/drawing/2014/main" id="{F8941D7B-C927-40EF-AD75-001986D69FE8}"/>
              </a:ext>
            </a:extLst>
          </p:cNvPr>
          <p:cNvSpPr>
            <a:spLocks xmlns:a="http://schemas.openxmlformats.org/drawingml/2006/main" noGrp="1"/>
          </p:cNvSpPr>
          <p:nvPr/>
        </p:nvSpPr>
        <p:spPr>
          <a:xfrm xmlns:a="http://schemas.openxmlformats.org/drawingml/2006/main">
            <a:off x="666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
        <p:nvSpPr>
          <p:cNvPr id="21" name="Rectangle: Rounded Corners 20">
            <a:extLst xmlns:a="http://schemas.openxmlformats.org/drawingml/2006/main">
              <a:ext uri="{FF2B5EF4-FFF2-40B4-BE49-F238E27FC236}">
                <a16:creationId xmlns:a16="http://schemas.microsoft.com/office/drawing/2014/main" id="{96418902-0D60-4955-BF78-64D12E5311DA}"/>
              </a:ext>
            </a:extLst>
          </p:cNvPr>
          <p:cNvSpPr>
            <a:spLocks xmlns:a="http://schemas.openxmlformats.org/drawingml/2006/main" noGrp="1"/>
          </p:cNvSpPr>
          <p:nvPr/>
        </p:nvSpPr>
        <p:spPr>
          <a:xfrm xmlns:a="http://schemas.openxmlformats.org/drawingml/2006/main">
            <a:off x="42862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D8941C"/>
            </a:solidFill>
            <a:prstDash val="solid"/>
          </a:ln>
        </p:spPr>
      </p:sp>
      <p:sp>
        <p:nvSpPr>
          <p:cNvPr id="22" name="Rectangle: Rounded Corners 21">
            <a:extLst xmlns:a="http://schemas.openxmlformats.org/drawingml/2006/main">
              <a:ext uri="{FF2B5EF4-FFF2-40B4-BE49-F238E27FC236}">
                <a16:creationId xmlns:a16="http://schemas.microsoft.com/office/drawing/2014/main" id="{6E844523-F8E9-4C62-A984-9A5A63D55C8A}"/>
              </a:ext>
            </a:extLst>
          </p:cNvPr>
          <p:cNvSpPr>
            <a:spLocks xmlns:a="http://schemas.openxmlformats.org/drawingml/2006/main" noGrp="1"/>
          </p:cNvSpPr>
          <p:nvPr/>
        </p:nvSpPr>
        <p:spPr>
          <a:xfrm xmlns:a="http://schemas.openxmlformats.org/drawingml/2006/main">
            <a:off x="7905750" y="1952625"/>
            <a:ext cx="2952750" cy="3333750"/>
          </a:xfrm>
          <a:prstGeom xmlns:a="http://schemas.openxmlformats.org/drawingml/2006/main" prst="roundRect">
            <a:avLst>
              <a:gd name="adj" fmla="val 3871"/>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593234553"/>
      </p:ext>
    </p:extLst>
  </p:cSld>
</p:sld>
</file>

<file path=ppt/slides/slide3.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8B2A920B-A121-4C29-8AD9-4B493140AF81}"/>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3</a:t>
            </a:r>
          </a:p>
        </p:txBody>
      </p:sp>
      <p:sp>
        <p:nvSpPr>
          <p:cNvPr id="2" name="Title-2-3">
            <a:extLst xmlns:a="http://schemas.openxmlformats.org/drawingml/2006/main">
              <a:ext uri="{FF2B5EF4-FFF2-40B4-BE49-F238E27FC236}">
                <a16:creationId xmlns:a16="http://schemas.microsoft.com/office/drawing/2014/main" id="{252F3A05-9EBE-45C1-B219-F9A8DDB8481F}"/>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9889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Completion means checking the whole evidence story</a:t>
            </a:r>
          </a:p>
        </p:txBody>
      </p:sp>
      <p:sp>
        <p:nvSpPr>
          <p:cNvPr id="3" name="Content-Placeholder-9-4">
            <a:extLst xmlns:a="http://schemas.openxmlformats.org/drawingml/2006/main">
              <a:ext uri="{FF2B5EF4-FFF2-40B4-BE49-F238E27FC236}">
                <a16:creationId xmlns:a16="http://schemas.microsoft.com/office/drawing/2014/main" id="{B3B5522B-4811-4958-BA5B-70E2FFB73BD3}"/>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Completion means checking the whole evidence story</a:t>
            </a:r>
          </a:p>
        </p:txBody>
      </p:sp>
      <p:sp>
        <p:nvSpPr>
          <p:cNvPr id="4" name="Content-Placeholder-10-5">
            <a:extLst xmlns:a="http://schemas.openxmlformats.org/drawingml/2006/main">
              <a:ext uri="{FF2B5EF4-FFF2-40B4-BE49-F238E27FC236}">
                <a16:creationId xmlns:a16="http://schemas.microsoft.com/office/drawing/2014/main" id="{5A010513-2588-46B2-9A08-569104F0558E}"/>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Trace decisions from need to final evaluation</a:t>
            </a:r>
          </a:p>
        </p:txBody>
      </p:sp>
      <p:sp>
        <p:nvSpPr>
          <p:cNvPr id="5" name="Content-Placeholder-9-6">
            <a:extLst xmlns:a="http://schemas.openxmlformats.org/drawingml/2006/main">
              <a:ext uri="{FF2B5EF4-FFF2-40B4-BE49-F238E27FC236}">
                <a16:creationId xmlns:a16="http://schemas.microsoft.com/office/drawing/2014/main" id="{081A3EC2-FEC1-461B-AE89-5FDACA8FF123}"/>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Triage mismatches before handoff</a:t>
            </a:r>
          </a:p>
        </p:txBody>
      </p:sp>
      <p:sp>
        <p:nvSpPr>
          <p:cNvPr id="6" name="Content-Placeholder-10-7">
            <a:extLst xmlns:a="http://schemas.openxmlformats.org/drawingml/2006/main">
              <a:ext uri="{FF2B5EF4-FFF2-40B4-BE49-F238E27FC236}">
                <a16:creationId xmlns:a16="http://schemas.microsoft.com/office/drawing/2014/main" id="{E3D79959-7930-4CBE-A084-FA4E4180CB2A}"/>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Complete “Evidence-trail audit and handoff triage” and justify one decision.</a:t>
            </a:r>
          </a:p>
        </p:txBody>
      </p:sp>
      <p:sp>
        <p:nvSpPr>
          <p:cNvPr id="8" name="Rectangle 7">
            <a:extLst xmlns:a="http://schemas.openxmlformats.org/drawingml/2006/main">
              <a:ext uri="{FF2B5EF4-FFF2-40B4-BE49-F238E27FC236}">
                <a16:creationId xmlns:a16="http://schemas.microsoft.com/office/drawing/2014/main" id="{741B4463-5DC9-4BB4-9AEB-C31EFFE5BD83}"/>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1 OF 3</a:t>
            </a:r>
          </a:p>
        </p:txBody>
      </p:sp>
      <p:sp>
        <p:nvSpPr>
          <p:cNvPr id="9" name="Rectangle: Rounded Corners 8">
            <a:extLst xmlns:a="http://schemas.openxmlformats.org/drawingml/2006/main">
              <a:ext uri="{FF2B5EF4-FFF2-40B4-BE49-F238E27FC236}">
                <a16:creationId xmlns:a16="http://schemas.microsoft.com/office/drawing/2014/main" id="{01D285C7-4067-4681-8840-E1A99A134558}"/>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Picture 20"/>
          <p:cNvPicPr>
            <a:picLocks xmlns:a="http://schemas.openxmlformats.org/drawingml/2006/main" noChangeAspect="1"/>
          </p:cNvPicPr>
          <p:nvPr/>
        </p:nvPicPr>
        <p:blipFill>
          <a:blip xmlns:r="http://schemas.openxmlformats.org/officeDocument/2006/relationships" xmlns:a="http://schemas.openxmlformats.org/drawingml/2006/main" r:embed="R6d0513ce7d0247a2"/>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11" name="Rectangle 10">
            <a:extLst xmlns:a="http://schemas.openxmlformats.org/drawingml/2006/main">
              <a:ext uri="{FF2B5EF4-FFF2-40B4-BE49-F238E27FC236}">
                <a16:creationId xmlns:a16="http://schemas.microsoft.com/office/drawing/2014/main" id="{A20C32CF-C64C-40B2-BBC3-02D81A16F72F}"/>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Notice which visible evidence supports the section’s key relationship.</a:t>
            </a:r>
          </a:p>
        </p:txBody>
      </p:sp>
    </p:spTree>
    <p:extLst>
      <p:ext uri="{BB962C8B-B14F-4D97-AF65-F5344CB8AC3E}">
        <p14:creationId xmlns:p14="http://schemas.microsoft.com/office/powerpoint/2010/main" val="803449303"/>
      </p:ext>
    </p:extLst>
  </p:cSld>
</p:sld>
</file>

<file path=ppt/slides/slide4.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B078C44-14AA-48A4-A5F1-EC8BBB169E45}"/>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4</a:t>
            </a:r>
          </a:p>
        </p:txBody>
      </p:sp>
      <p:sp>
        <p:nvSpPr>
          <p:cNvPr id="2" name="Title-10-3">
            <a:extLst xmlns:a="http://schemas.openxmlformats.org/drawingml/2006/main">
              <a:ext uri="{FF2B5EF4-FFF2-40B4-BE49-F238E27FC236}">
                <a16:creationId xmlns:a16="http://schemas.microsoft.com/office/drawing/2014/main" id="{DDA065D4-4C79-4E5B-96CF-0A428EF120DA}"/>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Decode the verb: identify the intellectual job</a:t>
            </a:r>
          </a:p>
        </p:txBody>
      </p:sp>
      <p:cxnSp>
        <p:nvCxnSpPr>
          <p:cNvPr id="41"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CB8329C4-AC4D-48CF-B627-84A37532678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2BC3E00B-0457-4BA3-B55D-A589DCDA33E9}"/>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6E9ACF0A-CE3E-42C3-B7C9-B61142D78CBB}"/>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6E71B14A-A610-486F-B74D-69334CE0B461}"/>
              </a:ext>
            </a:extLst>
          </p:cNvPr>
          <p:cNvSpPr>
            <a:spLocks xmlns:a="http://schemas.openxmlformats.org/drawingml/2006/main" noGrp="1"/>
          </p:cNvSpPr>
          <p:nvPr/>
        </p:nvSpPr>
        <p:spPr>
          <a:xfrm xmlns:a="http://schemas.openxmlformats.org/drawingml/2006/main">
            <a:off x="647700" y="2209800"/>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44E73360-ED41-4AE3-9474-1BE306AE7858}"/>
              </a:ext>
            </a:extLst>
          </p:cNvPr>
          <p:cNvSpPr>
            <a:spLocks xmlns:a="http://schemas.openxmlformats.org/drawingml/2006/main" noGrp="1"/>
          </p:cNvSpPr>
          <p:nvPr/>
        </p:nvSpPr>
        <p:spPr>
          <a:xfrm xmlns:a="http://schemas.openxmlformats.org/drawingml/2006/main">
            <a:off x="647700" y="3209925"/>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6E21EB1A-F8DD-4B0D-A6A7-032E794FE7DF}"/>
              </a:ext>
            </a:extLst>
          </p:cNvPr>
          <p:cNvSpPr>
            <a:spLocks xmlns:a="http://schemas.openxmlformats.org/drawingml/2006/main" noGrp="1"/>
          </p:cNvSpPr>
          <p:nvPr/>
        </p:nvSpPr>
        <p:spPr>
          <a:xfrm xmlns:a="http://schemas.openxmlformats.org/drawingml/2006/main">
            <a:off x="647700" y="4210050"/>
            <a:ext cx="495300" cy="552450"/>
          </a:xfrm>
          <a:prstGeom xmlns:a="http://schemas.openxmlformats.org/drawingml/2006/main" prst="rect">
            <a:avLst/>
          </a:prstGeom>
        </p:spPr>
        <p:txBody>
          <a:bodyPr xmlns:a="http://schemas.openxmlformats.org/drawingml/2006/main" lIns="38100" tIns="38100" rIns="38100" bIns="38100" anchor="ctr">
            <a:normAutofit/>
          </a:bodyPr>
          <a:lstStyle xmlns:a="http://schemas.openxmlformats.org/drawingml/2006/main"/>
          <a:p xmlns:a="http://schemas.openxmlformats.org/drawingml/2006/main">
            <a:pPr algn="l">
              <a:lnSpc>
                <a:spcPct val="105000"/>
              </a:lnSpc>
              <a:buNone/>
              <a:defRPr sz="2400" b="1">
                <a:solidFill>
                  <a:srgbClr val="D8941C"/>
                </a:solidFill>
                <a:latin typeface="Aptos"/>
                <a:ea typeface="Aptos"/>
                <a:cs typeface="Aptos"/>
              </a:defRPr>
            </a:pPr>
            <a:r>
              <a:rPr sz="24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64F29560-52C2-4511-8FC1-AAABF9570180}"/>
              </a:ext>
            </a:extLst>
          </p:cNvPr>
          <p:cNvSpPr>
            <a:spLocks xmlns:a="http://schemas.openxmlformats.org/drawingml/2006/main" noGrp="1"/>
          </p:cNvSpPr>
          <p:nvPr/>
        </p:nvSpPr>
        <p:spPr>
          <a:xfrm xmlns:a="http://schemas.openxmlformats.org/drawingml/2006/main">
            <a:off x="1200150" y="2114550"/>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Decode the verb: identify the intellectual job</a:t>
            </a:r>
          </a:p>
        </p:txBody>
      </p:sp>
      <p:sp>
        <p:nvSpPr>
          <p:cNvPr id="11" name="Text-Placeholder-16-12">
            <a:extLst xmlns:a="http://schemas.openxmlformats.org/drawingml/2006/main">
              <a:ext uri="{FF2B5EF4-FFF2-40B4-BE49-F238E27FC236}">
                <a16:creationId xmlns:a16="http://schemas.microsoft.com/office/drawing/2014/main" id="{3CAB6260-4966-4846-A976-124725E23EC6}"/>
              </a:ext>
            </a:extLst>
          </p:cNvPr>
          <p:cNvSpPr>
            <a:spLocks xmlns:a="http://schemas.openxmlformats.org/drawingml/2006/main" noGrp="1"/>
          </p:cNvSpPr>
          <p:nvPr/>
        </p:nvSpPr>
        <p:spPr>
          <a:xfrm xmlns:a="http://schemas.openxmlformats.org/drawingml/2006/main">
            <a:off x="1200150" y="3114675"/>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Build the evidence-led response plan</a:t>
            </a:r>
          </a:p>
        </p:txBody>
      </p:sp>
      <p:sp>
        <p:nvSpPr>
          <p:cNvPr id="12" name="Text-Placeholder-16-13">
            <a:extLst xmlns:a="http://schemas.openxmlformats.org/drawingml/2006/main">
              <a:ext uri="{FF2B5EF4-FFF2-40B4-BE49-F238E27FC236}">
                <a16:creationId xmlns:a16="http://schemas.microsoft.com/office/drawing/2014/main" id="{25A797A7-58D5-4050-BDF5-3121335E898E}"/>
              </a:ext>
            </a:extLst>
          </p:cNvPr>
          <p:cNvSpPr>
            <a:spLocks xmlns:a="http://schemas.openxmlformats.org/drawingml/2006/main" noGrp="1"/>
          </p:cNvSpPr>
          <p:nvPr/>
        </p:nvSpPr>
        <p:spPr>
          <a:xfrm xmlns:a="http://schemas.openxmlformats.org/drawingml/2006/main">
            <a:off x="1200150" y="4114800"/>
            <a:ext cx="4429125" cy="85725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Worked example: same evidence, different plan</a:t>
            </a:r>
          </a:p>
        </p:txBody>
      </p:sp>
      <p:sp>
        <p:nvSpPr>
          <p:cNvPr id="19" name="Rectangle 18">
            <a:extLst xmlns:a="http://schemas.openxmlformats.org/drawingml/2006/main">
              <a:ext uri="{FF2B5EF4-FFF2-40B4-BE49-F238E27FC236}">
                <a16:creationId xmlns:a16="http://schemas.microsoft.com/office/drawing/2014/main" id="{50F14AF4-30E2-4AAF-9DB0-9EE8998D9CD0}"/>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2 OF 3</a:t>
            </a:r>
          </a:p>
        </p:txBody>
      </p:sp>
      <p:sp>
        <p:nvSpPr>
          <p:cNvPr id="20" name="Rectangle: Rounded Corners 19">
            <a:extLst xmlns:a="http://schemas.openxmlformats.org/drawingml/2006/main">
              <a:ext uri="{FF2B5EF4-FFF2-40B4-BE49-F238E27FC236}">
                <a16:creationId xmlns:a16="http://schemas.microsoft.com/office/drawing/2014/main" id="{272D4C34-16B4-4863-9EB2-19E75DBAD3D2}"/>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53" name="Picture 44"/>
          <p:cNvPicPr>
            <a:picLocks xmlns:a="http://schemas.openxmlformats.org/drawingml/2006/main" noChangeAspect="1"/>
          </p:cNvPicPr>
          <p:nvPr/>
        </p:nvPicPr>
        <p:blipFill>
          <a:blip xmlns:r="http://schemas.openxmlformats.org/officeDocument/2006/relationships" xmlns:a="http://schemas.openxmlformats.org/drawingml/2006/main" r:embed="R6bfcd4c16a014331"/>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22" name="Rectangle 21">
            <a:extLst xmlns:a="http://schemas.openxmlformats.org/drawingml/2006/main">
              <a:ext uri="{FF2B5EF4-FFF2-40B4-BE49-F238E27FC236}">
                <a16:creationId xmlns:a16="http://schemas.microsoft.com/office/drawing/2014/main" id="{7EDDDA1C-B9EE-4BC9-B3C5-1D15F9C65AD3}"/>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EVIDENCE Complete “Command-term transformation and plan sort” and justify one decision.</a:t>
            </a:r>
          </a:p>
        </p:txBody>
      </p:sp>
    </p:spTree>
    <p:extLst>
      <p:ext uri="{BB962C8B-B14F-4D97-AF65-F5344CB8AC3E}">
        <p14:creationId xmlns:p14="http://schemas.microsoft.com/office/powerpoint/2010/main" val="791432774"/>
      </p:ext>
    </p:extLst>
  </p:cSld>
</p:sld>
</file>

<file path=ppt/slides/slide5.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04438865-7489-48C2-8699-B582E4817FF7}"/>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5</a:t>
            </a:r>
          </a:p>
        </p:txBody>
      </p:sp>
      <p:sp>
        <p:nvSpPr>
          <p:cNvPr id="2" name="Title-2-3">
            <a:extLst xmlns:a="http://schemas.openxmlformats.org/drawingml/2006/main">
              <a:ext uri="{FF2B5EF4-FFF2-40B4-BE49-F238E27FC236}">
                <a16:creationId xmlns:a16="http://schemas.microsoft.com/office/drawing/2014/main" id="{65E6E568-2A5A-4AC2-A37E-A11C9C083959}"/>
              </a:ext>
            </a:extLst>
          </p:cNvPr>
          <p:cNvSpPr>
            <a:spLocks xmlns:a="http://schemas.openxmlformats.org/drawingml/2006/main" noGrp="1"/>
          </p:cNvSpPr>
          <p:nvPr/>
        </p:nvSpPr>
        <p:spPr>
          <a:xfrm xmlns:a="http://schemas.openxmlformats.org/drawingml/2006/main">
            <a:off x="571500" y="533400"/>
            <a:ext cx="5191125" cy="15049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98000"/>
              </a:lnSpc>
              <a:buNone/>
              <a:defRPr sz="3500" b="1">
                <a:solidFill>
                  <a:srgbClr val="173126"/>
                </a:solidFill>
                <a:latin typeface="Aptos"/>
                <a:ea typeface="Aptos"/>
                <a:cs typeface="Aptos"/>
              </a:defRPr>
            </a:pPr>
            <a:r>
              <a:rPr sz="3500" b="1">
                <a:solidFill>
                  <a:srgbClr val="173126"/>
                </a:solidFill>
                <a:latin typeface="Aptos"/>
                <a:ea typeface="Aptos"/>
                <a:cs typeface="Aptos"/>
              </a:rPr>
              <a:t>Build a whole-course network</a:t>
            </a:r>
          </a:p>
        </p:txBody>
      </p:sp>
      <p:sp>
        <p:nvSpPr>
          <p:cNvPr id="3" name="Content-Placeholder-9-4">
            <a:extLst xmlns:a="http://schemas.openxmlformats.org/drawingml/2006/main">
              <a:ext uri="{FF2B5EF4-FFF2-40B4-BE49-F238E27FC236}">
                <a16:creationId xmlns:a16="http://schemas.microsoft.com/office/drawing/2014/main" id="{1F3651F5-E7CE-4B5A-BABC-64F9FB61699A}"/>
              </a:ext>
            </a:extLst>
          </p:cNvPr>
          <p:cNvSpPr>
            <a:spLocks xmlns:a="http://schemas.openxmlformats.org/drawingml/2006/main" noGrp="1"/>
          </p:cNvSpPr>
          <p:nvPr/>
        </p:nvSpPr>
        <p:spPr>
          <a:xfrm xmlns:a="http://schemas.openxmlformats.org/drawingml/2006/main">
            <a:off x="685800" y="209550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01 Build a whole-course network</a:t>
            </a:r>
          </a:p>
        </p:txBody>
      </p:sp>
      <p:sp>
        <p:nvSpPr>
          <p:cNvPr id="4" name="Content-Placeholder-10-5">
            <a:extLst xmlns:a="http://schemas.openxmlformats.org/drawingml/2006/main">
              <a:ext uri="{FF2B5EF4-FFF2-40B4-BE49-F238E27FC236}">
                <a16:creationId xmlns:a16="http://schemas.microsoft.com/office/drawing/2014/main" id="{0B69F6AD-12EB-4C3E-91C6-0362468EE485}"/>
              </a:ext>
            </a:extLst>
          </p:cNvPr>
          <p:cNvSpPr>
            <a:spLocks xmlns:a="http://schemas.openxmlformats.org/drawingml/2006/main" noGrp="1"/>
          </p:cNvSpPr>
          <p:nvPr/>
        </p:nvSpPr>
        <p:spPr>
          <a:xfrm xmlns:a="http://schemas.openxmlformats.org/drawingml/2006/main">
            <a:off x="685800" y="290512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02 Use retrieval, interleaving and error analysis</a:t>
            </a:r>
          </a:p>
        </p:txBody>
      </p:sp>
      <p:sp>
        <p:nvSpPr>
          <p:cNvPr id="5" name="Content-Placeholder-9-6">
            <a:extLst xmlns:a="http://schemas.openxmlformats.org/drawingml/2006/main">
              <a:ext uri="{FF2B5EF4-FFF2-40B4-BE49-F238E27FC236}">
                <a16:creationId xmlns:a16="http://schemas.microsoft.com/office/drawing/2014/main" id="{894D7850-A6B2-4408-8BD6-376BFCA8BD5F}"/>
              </a:ext>
            </a:extLst>
          </p:cNvPr>
          <p:cNvSpPr>
            <a:spLocks xmlns:a="http://schemas.openxmlformats.org/drawingml/2006/main" noGrp="1"/>
          </p:cNvSpPr>
          <p:nvPr/>
        </p:nvSpPr>
        <p:spPr>
          <a:xfrm xmlns:a="http://schemas.openxmlformats.org/drawingml/2006/main">
            <a:off x="685800" y="3714750"/>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700" b="0">
                <a:solidFill>
                  <a:srgbClr val="173126"/>
                </a:solidFill>
                <a:latin typeface="Aptos"/>
                <a:ea typeface="Aptos"/>
                <a:cs typeface="Aptos"/>
              </a:defRPr>
            </a:pPr>
            <a:r>
              <a:rPr sz="1700" b="0">
                <a:solidFill>
                  <a:srgbClr val="173126"/>
                </a:solidFill>
                <a:latin typeface="Aptos"/>
                <a:ea typeface="Aptos"/>
                <a:cs typeface="Aptos"/>
              </a:rPr>
              <a:t>03 Worked synthesis: follow the reasoning chain</a:t>
            </a:r>
          </a:p>
        </p:txBody>
      </p:sp>
      <p:sp>
        <p:nvSpPr>
          <p:cNvPr id="6" name="Content-Placeholder-10-7">
            <a:extLst xmlns:a="http://schemas.openxmlformats.org/drawingml/2006/main">
              <a:ext uri="{FF2B5EF4-FFF2-40B4-BE49-F238E27FC236}">
                <a16:creationId xmlns:a16="http://schemas.microsoft.com/office/drawing/2014/main" id="{311B82AE-5CBD-4093-AE6F-D5E6E5840FF5}"/>
              </a:ext>
            </a:extLst>
          </p:cNvPr>
          <p:cNvSpPr>
            <a:spLocks xmlns:a="http://schemas.openxmlformats.org/drawingml/2006/main" noGrp="1"/>
          </p:cNvSpPr>
          <p:nvPr/>
        </p:nvSpPr>
        <p:spPr>
          <a:xfrm xmlns:a="http://schemas.openxmlformats.org/drawingml/2006/main">
            <a:off x="685800" y="4524375"/>
            <a:ext cx="4905375" cy="7239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08000"/>
              </a:lnSpc>
              <a:buNone/>
              <a:defRPr sz="1600" b="1">
                <a:solidFill>
                  <a:srgbClr val="5A665F"/>
                </a:solidFill>
                <a:latin typeface="Aptos"/>
                <a:ea typeface="Aptos"/>
                <a:cs typeface="Aptos"/>
              </a:defRPr>
            </a:pPr>
            <a:r>
              <a:rPr sz="1600" b="1">
                <a:solidFill>
                  <a:srgbClr val="5A665F"/>
                </a:solidFill>
                <a:latin typeface="Aptos"/>
                <a:ea typeface="Aptos"/>
                <a:cs typeface="Aptos"/>
              </a:rPr>
              <a:t>EVIDENCE Complete “Synthesis network and retrieval-gap.” and justify one decision.</a:t>
            </a:r>
          </a:p>
        </p:txBody>
      </p:sp>
      <p:sp>
        <p:nvSpPr>
          <p:cNvPr id="8" name="Rectangle 7">
            <a:extLst xmlns:a="http://schemas.openxmlformats.org/drawingml/2006/main">
              <a:ext uri="{FF2B5EF4-FFF2-40B4-BE49-F238E27FC236}">
                <a16:creationId xmlns:a16="http://schemas.microsoft.com/office/drawing/2014/main" id="{E22B54A6-2AD6-4294-B051-E413DFD7E765}"/>
              </a:ext>
            </a:extLst>
          </p:cNvPr>
          <p:cNvSpPr>
            <a:spLocks xmlns:a="http://schemas.openxmlformats.org/drawingml/2006/main" noGrp="1"/>
          </p:cNvSpPr>
          <p:nvPr/>
        </p:nvSpPr>
        <p:spPr>
          <a:xfrm xmlns:a="http://schemas.openxmlformats.org/drawingml/2006/main">
            <a:off x="590550" y="285750"/>
            <a:ext cx="2476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77839"/>
          </a:bodyPr>
          <a:lstStyle xmlns:a="http://schemas.openxmlformats.org/drawingml/2006/main"/>
          <a:p xmlns:a="http://schemas.openxmlformats.org/drawingml/2006/main">
            <a:pPr algn="l">
              <a:lnSpc>
                <a:spcPct val="105000"/>
              </a:lnSpc>
              <a:buNone/>
              <a:defRPr sz="1300" b="1">
                <a:solidFill>
                  <a:srgbClr val="D8941C"/>
                </a:solidFill>
                <a:latin typeface="Aptos"/>
                <a:ea typeface="Aptos"/>
                <a:cs typeface="Aptos"/>
              </a:defRPr>
            </a:pPr>
            <a:r>
              <a:rPr sz="1300" b="1">
                <a:solidFill>
                  <a:srgbClr val="D8941C"/>
                </a:solidFill>
                <a:latin typeface="Aptos"/>
                <a:ea typeface="Aptos"/>
                <a:cs typeface="Aptos"/>
              </a:rPr>
              <a:t>THEORY 3 OF 3</a:t>
            </a:r>
          </a:p>
        </p:txBody>
      </p:sp>
      <p:sp>
        <p:nvSpPr>
          <p:cNvPr id="9" name="Rectangle: Rounded Corners 8">
            <a:extLst xmlns:a="http://schemas.openxmlformats.org/drawingml/2006/main">
              <a:ext uri="{FF2B5EF4-FFF2-40B4-BE49-F238E27FC236}">
                <a16:creationId xmlns:a16="http://schemas.microsoft.com/office/drawing/2014/main" id="{D9658BBD-B043-4046-9981-CD4088088BF6}"/>
              </a:ext>
            </a:extLst>
          </p:cNvPr>
          <p:cNvSpPr>
            <a:spLocks xmlns:a="http://schemas.openxmlformats.org/drawingml/2006/main" noGrp="1"/>
          </p:cNvSpPr>
          <p:nvPr/>
        </p:nvSpPr>
        <p:spPr>
          <a:xfrm xmlns:a="http://schemas.openxmlformats.org/drawingml/2006/main">
            <a:off x="6048375" y="552450"/>
            <a:ext cx="5619750" cy="5524500"/>
          </a:xfrm>
          <a:prstGeom xmlns:a="http://schemas.openxmlformats.org/drawingml/2006/main" prst="roundRect">
            <a:avLst>
              <a:gd name="adj" fmla="val 2069"/>
            </a:avLst>
          </a:prstGeom>
          <a:noFill xmlns:a="http://schemas.openxmlformats.org/drawingml/2006/main"/>
          <a:ln xmlns:a="http://schemas.openxmlformats.org/drawingml/2006/main" w="9525">
            <a:solidFill>
              <a:srgbClr val="D8941C"/>
            </a:solidFill>
            <a:prstDash val="solid"/>
          </a:ln>
        </p:spPr>
      </p:sp>
      <p:pic>
        <p:nvPicPr>
          <p:cNvPr id="21" name="Picture 20"/>
          <p:cNvPicPr>
            <a:picLocks xmlns:a="http://schemas.openxmlformats.org/drawingml/2006/main" noChangeAspect="1"/>
          </p:cNvPicPr>
          <p:nvPr/>
        </p:nvPicPr>
        <p:blipFill>
          <a:blip xmlns:r="http://schemas.openxmlformats.org/officeDocument/2006/relationships" xmlns:a="http://schemas.openxmlformats.org/drawingml/2006/main" r:embed="R12c880f2d7574094"/>
          <a:srcRect xmlns:a="http://schemas.openxmlformats.org/drawingml/2006/main" l="0" t="0" r="0" b="0"/>
          <a:stretch xmlns:a="http://schemas.openxmlformats.org/drawingml/2006/main">
            <a:fillRect l="0" t="0" r="0" b="0"/>
          </a:stretch>
        </p:blipFill>
        <p:spPr>
          <a:xfrm xmlns:a="http://schemas.openxmlformats.org/drawingml/2006/main" flipH="0" flipV="0">
            <a:off x="6200775" y="704850"/>
            <a:ext cx="5314950" cy="4000500"/>
          </a:xfrm>
          <a:prstGeom xmlns:a="http://schemas.openxmlformats.org/drawingml/2006/main" prst="roundRect">
            <a:avLst/>
          </a:prstGeom>
        </p:spPr>
      </p:pic>
      <p:sp>
        <p:nvSpPr>
          <p:cNvPr id="11" name="Rectangle 10">
            <a:extLst xmlns:a="http://schemas.openxmlformats.org/drawingml/2006/main">
              <a:ext uri="{FF2B5EF4-FFF2-40B4-BE49-F238E27FC236}">
                <a16:creationId xmlns:a16="http://schemas.microsoft.com/office/drawing/2014/main" id="{EF1AF138-E39A-45A4-98C7-44449B6CE141}"/>
              </a:ext>
            </a:extLst>
          </p:cNvPr>
          <p:cNvSpPr>
            <a:spLocks xmlns:a="http://schemas.openxmlformats.org/drawingml/2006/main" noGrp="1"/>
          </p:cNvSpPr>
          <p:nvPr/>
        </p:nvSpPr>
        <p:spPr>
          <a:xfrm xmlns:a="http://schemas.openxmlformats.org/drawingml/2006/main">
            <a:off x="6267450" y="4810125"/>
            <a:ext cx="5162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600" b="0">
                <a:solidFill>
                  <a:srgbClr val="5A665F"/>
                </a:solidFill>
                <a:latin typeface="Aptos"/>
                <a:ea typeface="Aptos"/>
                <a:cs typeface="Aptos"/>
              </a:defRPr>
            </a:pPr>
            <a:r>
              <a:rPr sz="1600" b="0">
                <a:solidFill>
                  <a:srgbClr val="5A665F"/>
                </a:solidFill>
                <a:latin typeface="Aptos"/>
                <a:ea typeface="Aptos"/>
                <a:cs typeface="Aptos"/>
              </a:rPr>
              <a:t>Notice which visible evidence supports the section’s key relationship.</a:t>
            </a:r>
          </a:p>
        </p:txBody>
      </p:sp>
    </p:spTree>
    <p:extLst>
      <p:ext uri="{BB962C8B-B14F-4D97-AF65-F5344CB8AC3E}">
        <p14:creationId xmlns:p14="http://schemas.microsoft.com/office/powerpoint/2010/main" val="234341914"/>
      </p:ext>
    </p:extLst>
  </p:cSld>
</p:sld>
</file>

<file path=ppt/slides/slide6.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470E4CBD-8D62-4D1D-9B20-55EBF6D27A5E}"/>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6</a:t>
            </a:r>
          </a:p>
        </p:txBody>
      </p:sp>
      <p:sp>
        <p:nvSpPr>
          <p:cNvPr id="2" name="Title-10-3">
            <a:extLst xmlns:a="http://schemas.openxmlformats.org/drawingml/2006/main">
              <a:ext uri="{FF2B5EF4-FFF2-40B4-BE49-F238E27FC236}">
                <a16:creationId xmlns:a16="http://schemas.microsoft.com/office/drawing/2014/main" id="{3E6A61C8-FA20-4C18-8A82-D49D9EBFF4CF}"/>
              </a:ext>
            </a:extLst>
          </p:cNvPr>
          <p:cNvSpPr>
            <a:spLocks xmlns:a="http://schemas.openxmlformats.org/drawingml/2006/main" noGrp="1"/>
          </p:cNvSpPr>
          <p:nvPr/>
        </p:nvSpPr>
        <p:spPr>
          <a:xfrm xmlns:a="http://schemas.openxmlformats.org/drawingml/2006/main">
            <a:off x="571500" y="533400"/>
            <a:ext cx="10287000" cy="6667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Retrieve the relationship—not just the definition</a:t>
            </a:r>
          </a:p>
        </p:txBody>
      </p:sp>
      <p:cxnSp>
        <p:nvCxnSpPr>
          <p:cNvPr id="37" name="Google-Shape-2259-p159-4"/>
          <p:cNvCxnSpPr/>
          <p:nvPr/>
        </p:nvCxnSpPr>
        <p:spPr>
          <a:xfrm xmlns:a="http://schemas.openxmlformats.org/drawingml/2006/main">
            <a:off x="0" y="0"/>
            <a:ext cx="9525" cy="9525"/>
          </a:xfrm>
          <a:prstGeom xmlns:a="http://schemas.openxmlformats.org/drawingml/2006/main" prst="straightConnector1">
            <a:avLst/>
          </a:prstGeom>
          <a:ln xmlns:a="http://schemas.openxmlformats.org/drawingml/2006/main" w="0">
            <a:noFill/>
            <a:prstDash val="solid"/>
          </a:ln>
        </p:spPr>
      </p:cxnSp>
      <p:sp>
        <p:nvSpPr>
          <p:cNvPr id="4" name="Google-Shape-2260-p159-5">
            <a:extLst xmlns:a="http://schemas.openxmlformats.org/drawingml/2006/main">
              <a:ext uri="{FF2B5EF4-FFF2-40B4-BE49-F238E27FC236}">
                <a16:creationId xmlns:a16="http://schemas.microsoft.com/office/drawing/2014/main" id="{1E74EF7E-884C-41AF-AD97-B8E18A6F6CB8}"/>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5" name="Google-Shape-2261-p159-6">
            <a:extLst xmlns:a="http://schemas.openxmlformats.org/drawingml/2006/main">
              <a:ext uri="{FF2B5EF4-FFF2-40B4-BE49-F238E27FC236}">
                <a16:creationId xmlns:a16="http://schemas.microsoft.com/office/drawing/2014/main" id="{141F0FA2-B455-4F2C-A2ED-34D2A8A4B545}"/>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6" name="Google-Shape-2262-p159-7">
            <a:extLst xmlns:a="http://schemas.openxmlformats.org/drawingml/2006/main">
              <a:ext uri="{FF2B5EF4-FFF2-40B4-BE49-F238E27FC236}">
                <a16:creationId xmlns:a16="http://schemas.microsoft.com/office/drawing/2014/main" id="{5EAC4B4A-5EB8-4213-97B3-853E484150EA}"/>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ellipse">
            <a:avLst/>
          </a:prstGeom>
          <a:noFill xmlns:a="http://schemas.openxmlformats.org/drawingml/2006/main"/>
          <a:ln xmlns:a="http://schemas.openxmlformats.org/drawingml/2006/main" w="0">
            <a:noFill/>
            <a:prstDash val="solid"/>
          </a:ln>
        </p:spPr>
      </p:sp>
      <p:sp>
        <p:nvSpPr>
          <p:cNvPr id="7" name="Content-Placeholder-15-8">
            <a:extLst xmlns:a="http://schemas.openxmlformats.org/drawingml/2006/main">
              <a:ext uri="{FF2B5EF4-FFF2-40B4-BE49-F238E27FC236}">
                <a16:creationId xmlns:a16="http://schemas.microsoft.com/office/drawing/2014/main" id="{AF2E796C-24F4-41C8-877A-B723CF9732C5}"/>
              </a:ext>
            </a:extLst>
          </p:cNvPr>
          <p:cNvSpPr>
            <a:spLocks xmlns:a="http://schemas.openxmlformats.org/drawingml/2006/main" noGrp="1"/>
          </p:cNvSpPr>
          <p:nvPr/>
        </p:nvSpPr>
        <p:spPr>
          <a:xfrm xmlns:a="http://schemas.openxmlformats.org/drawingml/2006/main">
            <a:off x="100012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01</a:t>
            </a:r>
          </a:p>
        </p:txBody>
      </p:sp>
      <p:sp>
        <p:nvSpPr>
          <p:cNvPr id="8" name="Content-Placeholder-15-9">
            <a:extLst xmlns:a="http://schemas.openxmlformats.org/drawingml/2006/main">
              <a:ext uri="{FF2B5EF4-FFF2-40B4-BE49-F238E27FC236}">
                <a16:creationId xmlns:a16="http://schemas.microsoft.com/office/drawing/2014/main" id="{E497B4AB-F992-4F71-91E8-000BEA874621}"/>
              </a:ext>
            </a:extLst>
          </p:cNvPr>
          <p:cNvSpPr>
            <a:spLocks xmlns:a="http://schemas.openxmlformats.org/drawingml/2006/main" noGrp="1"/>
          </p:cNvSpPr>
          <p:nvPr/>
        </p:nvSpPr>
        <p:spPr>
          <a:xfrm xmlns:a="http://schemas.openxmlformats.org/drawingml/2006/main">
            <a:off x="471487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02</a:t>
            </a:r>
          </a:p>
        </p:txBody>
      </p:sp>
      <p:sp>
        <p:nvSpPr>
          <p:cNvPr id="9" name="Content-Placeholder-15-10">
            <a:extLst xmlns:a="http://schemas.openxmlformats.org/drawingml/2006/main">
              <a:ext uri="{FF2B5EF4-FFF2-40B4-BE49-F238E27FC236}">
                <a16:creationId xmlns:a16="http://schemas.microsoft.com/office/drawing/2014/main" id="{9880C656-A3E0-4FBA-A3A3-57890DB4A6E2}"/>
              </a:ext>
            </a:extLst>
          </p:cNvPr>
          <p:cNvSpPr>
            <a:spLocks xmlns:a="http://schemas.openxmlformats.org/drawingml/2006/main" noGrp="1"/>
          </p:cNvSpPr>
          <p:nvPr/>
        </p:nvSpPr>
        <p:spPr>
          <a:xfrm xmlns:a="http://schemas.openxmlformats.org/drawingml/2006/main">
            <a:off x="8429625" y="2266950"/>
            <a:ext cx="666750" cy="590550"/>
          </a:xfrm>
          <a:prstGeom xmlns:a="http://schemas.openxmlformats.org/drawingml/2006/main" prst="rect">
            <a:avLst/>
          </a:prstGeom>
        </p:spPr>
        <p:txBody>
          <a:bodyPr xmlns:a="http://schemas.openxmlformats.org/drawingml/2006/main" lIns="38100" tIns="38100" rIns="38100" bIns="38100" anchor="t">
            <a:normAutofit/>
          </a:bodyPr>
          <a:lstStyle xmlns:a="http://schemas.openxmlformats.org/drawingml/2006/main"/>
          <a:p xmlns:a="http://schemas.openxmlformats.org/drawingml/2006/main">
            <a:pPr algn="l">
              <a:lnSpc>
                <a:spcPct val="105000"/>
              </a:lnSpc>
              <a:buNone/>
              <a:defRPr sz="3000" b="1">
                <a:solidFill>
                  <a:srgbClr val="D8941C"/>
                </a:solidFill>
                <a:latin typeface="Aptos"/>
                <a:ea typeface="Aptos"/>
                <a:cs typeface="Aptos"/>
              </a:defRPr>
            </a:pPr>
            <a:r>
              <a:rPr sz="3000" b="1">
                <a:solidFill>
                  <a:srgbClr val="D8941C"/>
                </a:solidFill>
                <a:latin typeface="Aptos"/>
                <a:ea typeface="Aptos"/>
                <a:cs typeface="Aptos"/>
              </a:rPr>
              <a:t>03</a:t>
            </a:r>
          </a:p>
        </p:txBody>
      </p:sp>
      <p:sp>
        <p:nvSpPr>
          <p:cNvPr id="10" name="Text-Placeholder-16-11">
            <a:extLst xmlns:a="http://schemas.openxmlformats.org/drawingml/2006/main">
              <a:ext uri="{FF2B5EF4-FFF2-40B4-BE49-F238E27FC236}">
                <a16:creationId xmlns:a16="http://schemas.microsoft.com/office/drawing/2014/main" id="{4FD3FD99-AFA0-4A20-B064-75652BCA2C15}"/>
              </a:ext>
            </a:extLst>
          </p:cNvPr>
          <p:cNvSpPr>
            <a:spLocks xmlns:a="http://schemas.openxmlformats.org/drawingml/2006/main" noGrp="1"/>
          </p:cNvSpPr>
          <p:nvPr/>
        </p:nvSpPr>
        <p:spPr>
          <a:xfrm xmlns:a="http://schemas.openxmlformats.org/drawingml/2006/main">
            <a:off x="10001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1</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MTP completion and evidence handoff</a:t>
            </a:r>
          </a:p>
        </p:txBody>
      </p:sp>
      <p:sp>
        <p:nvSpPr>
          <p:cNvPr id="11" name="Text-Placeholder-16-12">
            <a:extLst xmlns:a="http://schemas.openxmlformats.org/drawingml/2006/main">
              <a:ext uri="{FF2B5EF4-FFF2-40B4-BE49-F238E27FC236}">
                <a16:creationId xmlns:a16="http://schemas.microsoft.com/office/drawing/2014/main" id="{E14E470D-3EB0-4181-9D87-AB6AC7574BA9}"/>
              </a:ext>
            </a:extLst>
          </p:cNvPr>
          <p:cNvSpPr>
            <a:spLocks xmlns:a="http://schemas.openxmlformats.org/drawingml/2006/main" noGrp="1"/>
          </p:cNvSpPr>
          <p:nvPr/>
        </p:nvSpPr>
        <p:spPr>
          <a:xfrm xmlns:a="http://schemas.openxmlformats.org/drawingml/2006/main">
            <a:off x="471487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2</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Command terms and response planning</a:t>
            </a:r>
          </a:p>
        </p:txBody>
      </p:sp>
      <p:sp>
        <p:nvSpPr>
          <p:cNvPr id="12" name="Text-Placeholder-16-13">
            <a:extLst xmlns:a="http://schemas.openxmlformats.org/drawingml/2006/main">
              <a:ext uri="{FF2B5EF4-FFF2-40B4-BE49-F238E27FC236}">
                <a16:creationId xmlns:a16="http://schemas.microsoft.com/office/drawing/2014/main" id="{376F7259-3952-48F7-92C0-D580593817F7}"/>
              </a:ext>
            </a:extLst>
          </p:cNvPr>
          <p:cNvSpPr>
            <a:spLocks xmlns:a="http://schemas.openxmlformats.org/drawingml/2006/main" noGrp="1"/>
          </p:cNvSpPr>
          <p:nvPr/>
        </p:nvSpPr>
        <p:spPr>
          <a:xfrm xmlns:a="http://schemas.openxmlformats.org/drawingml/2006/main">
            <a:off x="8429625" y="2914650"/>
            <a:ext cx="2667000" cy="1619250"/>
          </a:xfrm>
          <a:prstGeom xmlns:a="http://schemas.openxmlformats.org/drawingml/2006/main" prst="rect">
            <a:avLst/>
          </a:prstGeom>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SECTION 3</a:t>
            </a:r>
          </a:p>
          <a:p xmlns:a="http://schemas.openxmlformats.org/drawingml/2006/main">
            <a:pPr algn="l">
              <a:buNone/>
              <a:defRPr sz="2400">
                <a:solidFill>
                  <a:srgbClr val="000000"/>
                </a:solidFill>
                <a:latin typeface="Helvetica Neue"/>
                <a:ea typeface="Helvetica Neue"/>
                <a:cs typeface="Helvetica Neue"/>
              </a:defRPr>
            </a:pPr>
            <a:r>
              <a:t/>
            </a:r>
            <a:endParaRPr sz="1600" b="0">
              <a:solidFill>
                <a:srgbClr val="173126"/>
              </a:solidFill>
              <a:latin typeface="Aptos"/>
              <a:ea typeface="Aptos"/>
              <a:cs typeface="Aptos"/>
            </a:endParaRPr>
          </a:p>
          <a:p xmlns:a="http://schemas.openxmlformats.org/drawingml/2006/main">
            <a:pPr algn="l">
              <a:lnSpc>
                <a:spcPct val="112000"/>
              </a:lnSpc>
              <a:buNone/>
              <a:defRPr sz="1600" b="0">
                <a:solidFill>
                  <a:srgbClr val="173126"/>
                </a:solidFill>
                <a:latin typeface="Aptos"/>
                <a:ea typeface="Aptos"/>
                <a:cs typeface="Aptos"/>
              </a:defRPr>
            </a:pPr>
            <a:r>
              <a:rPr sz="1600" b="0">
                <a:solidFill>
                  <a:srgbClr val="173126"/>
                </a:solidFill>
                <a:latin typeface="Aptos"/>
                <a:ea typeface="Aptos"/>
                <a:cs typeface="Aptos"/>
              </a:rPr>
              <a:t>Use evidence to explain: Whole-course synthesis and revision</a:t>
            </a:r>
          </a:p>
        </p:txBody>
      </p:sp>
      <p:sp>
        <p:nvSpPr>
          <p:cNvPr id="19" name="Rectangle 18">
            <a:extLst xmlns:a="http://schemas.openxmlformats.org/drawingml/2006/main">
              <a:ext uri="{FF2B5EF4-FFF2-40B4-BE49-F238E27FC236}">
                <a16:creationId xmlns:a16="http://schemas.microsoft.com/office/drawing/2014/main" id="{50B13189-640C-4F85-A57E-A01655EE318C}"/>
              </a:ext>
            </a:extLst>
          </p:cNvPr>
          <p:cNvSpPr>
            <a:spLocks xmlns:a="http://schemas.openxmlformats.org/drawingml/2006/main" noGrp="1"/>
          </p:cNvSpPr>
          <p:nvPr/>
        </p:nvSpPr>
        <p:spPr>
          <a:xfrm xmlns:a="http://schemas.openxmlformats.org/drawingml/2006/main">
            <a:off x="590550" y="1200150"/>
            <a:ext cx="838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83333"/>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Answer aloud or write one precise evidence-based sentence for each prompt.</a:t>
            </a:r>
          </a:p>
        </p:txBody>
      </p:sp>
      <p:sp>
        <p:nvSpPr>
          <p:cNvPr id="20" name="Rectangle: Rounded Corners 19">
            <a:extLst xmlns:a="http://schemas.openxmlformats.org/drawingml/2006/main">
              <a:ext uri="{FF2B5EF4-FFF2-40B4-BE49-F238E27FC236}">
                <a16:creationId xmlns:a16="http://schemas.microsoft.com/office/drawing/2014/main" id="{35ED1ED7-12CC-4D64-A46D-642B399C390F}"/>
              </a:ext>
            </a:extLst>
          </p:cNvPr>
          <p:cNvSpPr>
            <a:spLocks xmlns:a="http://schemas.openxmlformats.org/drawingml/2006/main" noGrp="1"/>
          </p:cNvSpPr>
          <p:nvPr/>
        </p:nvSpPr>
        <p:spPr>
          <a:xfrm xmlns:a="http://schemas.openxmlformats.org/drawingml/2006/main">
            <a:off x="7143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
        <p:nvSpPr>
          <p:cNvPr id="21" name="Rectangle: Rounded Corners 20">
            <a:extLst xmlns:a="http://schemas.openxmlformats.org/drawingml/2006/main">
              <a:ext uri="{FF2B5EF4-FFF2-40B4-BE49-F238E27FC236}">
                <a16:creationId xmlns:a16="http://schemas.microsoft.com/office/drawing/2014/main" id="{E4112AAD-9DD8-49E7-BBD2-BF2FE6D22021}"/>
              </a:ext>
            </a:extLst>
          </p:cNvPr>
          <p:cNvSpPr>
            <a:spLocks xmlns:a="http://schemas.openxmlformats.org/drawingml/2006/main" noGrp="1"/>
          </p:cNvSpPr>
          <p:nvPr/>
        </p:nvSpPr>
        <p:spPr>
          <a:xfrm xmlns:a="http://schemas.openxmlformats.org/drawingml/2006/main">
            <a:off x="442912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D8941C"/>
            </a:solidFill>
            <a:prstDash val="solid"/>
          </a:ln>
        </p:spPr>
      </p:sp>
      <p:sp>
        <p:nvSpPr>
          <p:cNvPr id="22" name="Rectangle: Rounded Corners 21">
            <a:extLst xmlns:a="http://schemas.openxmlformats.org/drawingml/2006/main">
              <a:ext uri="{FF2B5EF4-FFF2-40B4-BE49-F238E27FC236}">
                <a16:creationId xmlns:a16="http://schemas.microsoft.com/office/drawing/2014/main" id="{1E7C6842-406E-4A43-904C-0BFF50917464}"/>
              </a:ext>
            </a:extLst>
          </p:cNvPr>
          <p:cNvSpPr>
            <a:spLocks xmlns:a="http://schemas.openxmlformats.org/drawingml/2006/main" noGrp="1"/>
          </p:cNvSpPr>
          <p:nvPr/>
        </p:nvSpPr>
        <p:spPr>
          <a:xfrm xmlns:a="http://schemas.openxmlformats.org/drawingml/2006/main">
            <a:off x="8143875" y="2057400"/>
            <a:ext cx="3238500" cy="2781300"/>
          </a:xfrm>
          <a:prstGeom xmlns:a="http://schemas.openxmlformats.org/drawingml/2006/main" prst="roundRect">
            <a:avLst>
              <a:gd name="adj" fmla="val 4110"/>
            </a:avLst>
          </a:prstGeom>
          <a:noFill xmlns:a="http://schemas.openxmlformats.org/drawingml/2006/main"/>
          <a:ln xmlns:a="http://schemas.openxmlformats.org/drawingml/2006/main" w="9525">
            <a:solidFill>
              <a:srgbClr val="EAD2AE"/>
            </a:solidFill>
            <a:prstDash val="solid"/>
          </a:ln>
        </p:spPr>
      </p:sp>
    </p:spTree>
    <p:extLst>
      <p:ext uri="{BB962C8B-B14F-4D97-AF65-F5344CB8AC3E}">
        <p14:creationId xmlns:p14="http://schemas.microsoft.com/office/powerpoint/2010/main" val="197396306"/>
      </p:ext>
    </p:extLst>
  </p:cSld>
</p:sld>
</file>

<file path=ppt/slides/slide7.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BC763F4E-BCA4-4B07-B025-6FEAA72E5BCD}"/>
              </a:ext>
            </a:extLst>
          </p:cNvPr>
          <p:cNvSpPr>
            <a:spLocks xmlns:a="http://schemas.openxmlformats.org/drawingml/2006/main" noGrp="1"/>
          </p:cNvSpPr>
          <p:nvPr/>
        </p:nvSpPr>
        <p:spPr>
          <a:xfrm xmlns:a="http://schemas.openxmlformats.org/drawingml/2006/main">
            <a:off x="11334750" y="6496050"/>
            <a:ext cx="400050" cy="190500"/>
          </a:xfrm>
          <a:prstGeom xmlns:a="http://schemas.openxmlformats.org/drawingml/2006/main" prst="rect">
            <a:avLst/>
          </a:prstGeom>
        </p:spPr>
        <p:txBody>
          <a:bodyPr xmlns:a="http://schemas.openxmlformats.org/drawingml/2006/main" lIns="38100" tIns="38100" rIns="38100" bIns="38100" anchor="ctr">
            <a:normAutofit fontScale="64935"/>
          </a:bodyPr>
          <a:lstStyle xmlns:a="http://schemas.openxmlformats.org/drawingml/2006/main"/>
          <a:p xmlns:a="http://schemas.openxmlformats.org/drawingml/2006/main">
            <a:pPr algn="r">
              <a:lnSpc>
                <a:spcPct val="105000"/>
              </a:lnSpc>
              <a:buNone/>
              <a:defRPr sz="1100" b="1">
                <a:solidFill>
                  <a:srgbClr val="5A665F"/>
                </a:solidFill>
                <a:latin typeface="Aptos"/>
                <a:ea typeface="Aptos"/>
                <a:cs typeface="Aptos"/>
              </a:defRPr>
            </a:pPr>
            <a:r>
              <a:rPr sz="1100" b="1">
                <a:solidFill>
                  <a:srgbClr val="5A665F"/>
                </a:solidFill>
                <a:latin typeface="Aptos"/>
                <a:ea typeface="Aptos"/>
                <a:cs typeface="Aptos"/>
              </a:rPr>
              <a:t>7</a:t>
            </a:r>
          </a:p>
        </p:txBody>
      </p:sp>
      <p:sp>
        <p:nvSpPr>
          <p:cNvPr id="2" name="Title-2-3">
            <a:extLst xmlns:a="http://schemas.openxmlformats.org/drawingml/2006/main">
              <a:ext uri="{FF2B5EF4-FFF2-40B4-BE49-F238E27FC236}">
                <a16:creationId xmlns:a16="http://schemas.microsoft.com/office/drawing/2014/main" id="{0D369F46-2FA0-4532-839B-72712112A52E}"/>
              </a:ext>
            </a:extLst>
          </p:cNvPr>
          <p:cNvSpPr>
            <a:spLocks xmlns:a="http://schemas.openxmlformats.org/drawingml/2006/main" noGrp="1"/>
          </p:cNvSpPr>
          <p:nvPr/>
        </p:nvSpPr>
        <p:spPr>
          <a:xfrm xmlns:a="http://schemas.openxmlformats.org/drawingml/2006/main">
            <a:off x="571500" y="400050"/>
            <a:ext cx="10287000" cy="571500"/>
          </a:xfrm>
          <a:prstGeom xmlns:a="http://schemas.openxmlformats.org/drawingml/2006/main" prst="rect">
            <a:avLst/>
          </a:prstGeom>
        </p:spPr>
        <p:txBody>
          <a:bodyPr xmlns:a="http://schemas.openxmlformats.org/drawingml/2006/main" lIns="38100" tIns="38100" rIns="38100" bIns="38100" anchor="t">
            <a:normAutofit fontScale="85979"/>
          </a:bodyPr>
          <a:lstStyle xmlns:a="http://schemas.openxmlformats.org/drawingml/2006/main"/>
          <a:p xmlns:a="http://schemas.openxmlformats.org/drawingml/2006/main">
            <a:pPr algn="l">
              <a:lnSpc>
                <a:spcPct val="105000"/>
              </a:lnSpc>
              <a:buNone/>
              <a:defRPr sz="3600" b="1">
                <a:solidFill>
                  <a:srgbClr val="173126"/>
                </a:solidFill>
                <a:latin typeface="Aptos"/>
                <a:ea typeface="Aptos"/>
                <a:cs typeface="Aptos"/>
              </a:defRPr>
            </a:pPr>
            <a:r>
              <a:rPr sz="3600" b="1">
                <a:solidFill>
                  <a:srgbClr val="173126"/>
                </a:solidFill>
                <a:latin typeface="Aptos"/>
                <a:ea typeface="Aptos"/>
                <a:cs typeface="Aptos"/>
              </a:rPr>
              <a:t>Build a response that shows your thinking</a:t>
            </a:r>
          </a:p>
        </p:txBody>
      </p:sp>
      <p:sp>
        <p:nvSpPr>
          <p:cNvPr id="3" name="Content-Placeholder-9-4">
            <a:extLst xmlns:a="http://schemas.openxmlformats.org/drawingml/2006/main">
              <a:ext uri="{FF2B5EF4-FFF2-40B4-BE49-F238E27FC236}">
                <a16:creationId xmlns:a16="http://schemas.microsoft.com/office/drawing/2014/main" id="{D2374728-E4B4-470D-AE72-552FDDDDF0E2}"/>
              </a:ext>
            </a:extLst>
          </p:cNvPr>
          <p:cNvSpPr>
            <a:spLocks xmlns:a="http://schemas.openxmlformats.org/drawingml/2006/main" noGrp="1"/>
          </p:cNvSpPr>
          <p:nvPr/>
        </p:nvSpPr>
        <p:spPr>
          <a:xfrm xmlns:a="http://schemas.openxmlformats.org/drawingml/2006/main">
            <a:off x="742950" y="2647950"/>
            <a:ext cx="2095500" cy="1600200"/>
          </a:xfrm>
          <a:prstGeom xmlns:a="http://schemas.openxmlformats.org/drawingml/2006/main" prst="rect">
            <a:avLst/>
          </a:prstGeom>
        </p:spPr>
        <p:txBody>
          <a:bodyPr xmlns:a="http://schemas.openxmlformats.org/drawingml/2006/main" lIns="38100" tIns="38100" rIns="38100" bIns="38100" anchor="ctr">
            <a:normAutofit fontScale="99272"/>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READ</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Identify the command term and exact relationship.</a:t>
            </a:r>
          </a:p>
        </p:txBody>
      </p:sp>
      <p:sp>
        <p:nvSpPr>
          <p:cNvPr id="4" name="Content-Placeholder-10-5">
            <a:extLst xmlns:a="http://schemas.openxmlformats.org/drawingml/2006/main">
              <a:ext uri="{FF2B5EF4-FFF2-40B4-BE49-F238E27FC236}">
                <a16:creationId xmlns:a16="http://schemas.microsoft.com/office/drawing/2014/main" id="{745C2A24-1535-4D4F-BEF4-6A9C7804C230}"/>
              </a:ext>
            </a:extLst>
          </p:cNvPr>
          <p:cNvSpPr>
            <a:spLocks xmlns:a="http://schemas.openxmlformats.org/drawingml/2006/main" noGrp="1"/>
          </p:cNvSpPr>
          <p:nvPr/>
        </p:nvSpPr>
        <p:spPr>
          <a:xfrm xmlns:a="http://schemas.openxmlformats.org/drawingml/2006/main">
            <a:off x="3648075"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SELECT</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Choose relevant course evidence.</a:t>
            </a:r>
          </a:p>
        </p:txBody>
      </p:sp>
      <p:sp>
        <p:nvSpPr>
          <p:cNvPr id="5" name="Content-Placeholder-9-6">
            <a:extLst xmlns:a="http://schemas.openxmlformats.org/drawingml/2006/main">
              <a:ext uri="{FF2B5EF4-FFF2-40B4-BE49-F238E27FC236}">
                <a16:creationId xmlns:a16="http://schemas.microsoft.com/office/drawing/2014/main" id="{4AED10BE-E00C-4A46-B1DA-CFFF3691C1F5}"/>
              </a:ext>
            </a:extLst>
          </p:cNvPr>
          <p:cNvSpPr>
            <a:spLocks xmlns:a="http://schemas.openxmlformats.org/drawingml/2006/main" noGrp="1"/>
          </p:cNvSpPr>
          <p:nvPr/>
        </p:nvSpPr>
        <p:spPr>
          <a:xfrm xmlns:a="http://schemas.openxmlformats.org/drawingml/2006/main">
            <a:off x="6553200"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EXPLAIN</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Connect the evidence to the textile decision.</a:t>
            </a:r>
          </a:p>
        </p:txBody>
      </p:sp>
      <p:sp>
        <p:nvSpPr>
          <p:cNvPr id="6" name="Content-Placeholder-10-7">
            <a:extLst xmlns:a="http://schemas.openxmlformats.org/drawingml/2006/main">
              <a:ext uri="{FF2B5EF4-FFF2-40B4-BE49-F238E27FC236}">
                <a16:creationId xmlns:a16="http://schemas.microsoft.com/office/drawing/2014/main" id="{4ECE2ED3-28BC-4F59-BFE2-F9047B67517C}"/>
              </a:ext>
            </a:extLst>
          </p:cNvPr>
          <p:cNvSpPr>
            <a:spLocks xmlns:a="http://schemas.openxmlformats.org/drawingml/2006/main" noGrp="1"/>
          </p:cNvSpPr>
          <p:nvPr/>
        </p:nvSpPr>
        <p:spPr>
          <a:xfrm xmlns:a="http://schemas.openxmlformats.org/drawingml/2006/main">
            <a:off x="9458325" y="2647950"/>
            <a:ext cx="2095500" cy="1600200"/>
          </a:xfrm>
          <a:prstGeom xmlns:a="http://schemas.openxmlformats.org/drawingml/2006/main" prst="rect">
            <a:avLst/>
          </a:prstGeom>
        </p:spPr>
        <p:txBody>
          <a:bodyPr xmlns:a="http://schemas.openxmlformats.org/drawingml/2006/main" lIns="38100" tIns="38100" rIns="38100" bIns="38100" anchor="ctr">
            <a:normAutofit fontScale="100000"/>
          </a:bodyPr>
          <a:lstStyle xmlns:a="http://schemas.openxmlformats.org/drawingml/2006/main"/>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CHECK</a:t>
            </a:r>
          </a:p>
          <a:p xmlns:a="http://schemas.openxmlformats.org/drawingml/2006/main">
            <a:pPr algn="l">
              <a:lnSpc>
                <a:spcPct val="112000"/>
              </a:lnSpc>
              <a:buNone/>
              <a:defRPr sz="2000" b="0">
                <a:solidFill>
                  <a:srgbClr val="173126"/>
                </a:solidFill>
                <a:latin typeface="Aptos"/>
                <a:ea typeface="Aptos"/>
                <a:cs typeface="Aptos"/>
              </a:defRPr>
            </a:pPr>
            <a:r>
              <a:rPr sz="2000" b="0">
                <a:solidFill>
                  <a:srgbClr val="173126"/>
                </a:solidFill>
                <a:latin typeface="Aptos"/>
                <a:ea typeface="Aptos"/>
                <a:cs typeface="Aptos"/>
              </a:rPr>
              <a:t>Make a supported judgement and answer every part.</a:t>
            </a:r>
          </a:p>
        </p:txBody>
      </p:sp>
      <p:sp>
        <p:nvSpPr>
          <p:cNvPr id="8" name="Rectangle 7">
            <a:extLst xmlns:a="http://schemas.openxmlformats.org/drawingml/2006/main">
              <a:ext uri="{FF2B5EF4-FFF2-40B4-BE49-F238E27FC236}">
                <a16:creationId xmlns:a16="http://schemas.microsoft.com/office/drawing/2014/main" id="{A8EFDF2A-7606-4595-951B-4CFE3BA786BC}"/>
              </a:ext>
            </a:extLst>
          </p:cNvPr>
          <p:cNvSpPr>
            <a:spLocks xmlns:a="http://schemas.openxmlformats.org/drawingml/2006/main" noGrp="1"/>
          </p:cNvSpPr>
          <p:nvPr/>
        </p:nvSpPr>
        <p:spPr>
          <a:xfrm xmlns:a="http://schemas.openxmlformats.org/drawingml/2006/main">
            <a:off x="590550" y="1047750"/>
            <a:ext cx="109537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97222"/>
          </a:bodyPr>
          <a:lstStyle xmlns:a="http://schemas.openxmlformats.org/drawingml/2006/main"/>
          <a:p xmlns:a="http://schemas.openxmlformats.org/drawingml/2006/main">
            <a:pPr algn="l">
              <a:lnSpc>
                <a:spcPct val="105000"/>
              </a:lnSpc>
              <a:buNone/>
              <a:defRPr sz="2000" b="0">
                <a:solidFill>
                  <a:srgbClr val="5A665F"/>
                </a:solidFill>
                <a:latin typeface="Aptos"/>
                <a:ea typeface="Aptos"/>
                <a:cs typeface="Aptos"/>
              </a:defRPr>
            </a:pPr>
            <a:r>
              <a:rPr sz="2000" b="0">
                <a:solidFill>
                  <a:srgbClr val="5A665F"/>
                </a:solidFill>
                <a:latin typeface="Aptos"/>
                <a:ea typeface="Aptos"/>
                <a:cs typeface="Aptos"/>
              </a:rPr>
              <a:t>Prompt: Evaluate how a student could use whole-course synthesis and targeted retrieval to develop a justified response about a generic textile product, connecting design decisions, structure–property reasoning, industry context and evidence while recognising limits in the available evidence.</a:t>
            </a:r>
          </a:p>
        </p:txBody>
      </p:sp>
      <p:sp>
        <p:nvSpPr>
          <p:cNvPr id="9" name="Rectangle: Rounded Corners 8">
            <a:extLst xmlns:a="http://schemas.openxmlformats.org/drawingml/2006/main">
              <a:ext uri="{FF2B5EF4-FFF2-40B4-BE49-F238E27FC236}">
                <a16:creationId xmlns:a16="http://schemas.microsoft.com/office/drawing/2014/main" id="{834625C6-A9E5-4E32-8BDC-7B1DB61EA47A}"/>
              </a:ext>
            </a:extLst>
          </p:cNvPr>
          <p:cNvSpPr>
            <a:spLocks xmlns:a="http://schemas.openxmlformats.org/drawingml/2006/main" noGrp="1"/>
          </p:cNvSpPr>
          <p:nvPr/>
        </p:nvSpPr>
        <p:spPr>
          <a:xfrm xmlns:a="http://schemas.openxmlformats.org/drawingml/2006/main">
            <a:off x="495300"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0" name="Rectangle: Rounded Corners 9">
            <a:extLst xmlns:a="http://schemas.openxmlformats.org/drawingml/2006/main">
              <a:ext uri="{FF2B5EF4-FFF2-40B4-BE49-F238E27FC236}">
                <a16:creationId xmlns:a16="http://schemas.microsoft.com/office/drawing/2014/main" id="{D8B5150D-E39C-4861-A904-435C14723698}"/>
              </a:ext>
            </a:extLst>
          </p:cNvPr>
          <p:cNvSpPr>
            <a:spLocks xmlns:a="http://schemas.openxmlformats.org/drawingml/2006/main" noGrp="1"/>
          </p:cNvSpPr>
          <p:nvPr/>
        </p:nvSpPr>
        <p:spPr>
          <a:xfrm xmlns:a="http://schemas.openxmlformats.org/drawingml/2006/main">
            <a:off x="3400425"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1" name="Rectangle: Rounded Corners 10">
            <a:extLst xmlns:a="http://schemas.openxmlformats.org/drawingml/2006/main">
              <a:ext uri="{FF2B5EF4-FFF2-40B4-BE49-F238E27FC236}">
                <a16:creationId xmlns:a16="http://schemas.microsoft.com/office/drawing/2014/main" id="{7E0A2E4B-8FE2-4D98-A3C8-FE5982AB5D23}"/>
              </a:ext>
            </a:extLst>
          </p:cNvPr>
          <p:cNvSpPr>
            <a:spLocks xmlns:a="http://schemas.openxmlformats.org/drawingml/2006/main" noGrp="1"/>
          </p:cNvSpPr>
          <p:nvPr/>
        </p:nvSpPr>
        <p:spPr>
          <a:xfrm xmlns:a="http://schemas.openxmlformats.org/drawingml/2006/main">
            <a:off x="6305550"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D8941C"/>
            </a:solidFill>
            <a:prstDash val="solid"/>
          </a:ln>
        </p:spPr>
      </p:sp>
      <p:sp>
        <p:nvSpPr>
          <p:cNvPr id="12" name="Rectangle: Rounded Corners 11">
            <a:extLst xmlns:a="http://schemas.openxmlformats.org/drawingml/2006/main">
              <a:ext uri="{FF2B5EF4-FFF2-40B4-BE49-F238E27FC236}">
                <a16:creationId xmlns:a16="http://schemas.microsoft.com/office/drawing/2014/main" id="{9B7B1F36-8E4F-492E-A852-62EBE0D89EE2}"/>
              </a:ext>
            </a:extLst>
          </p:cNvPr>
          <p:cNvSpPr>
            <a:spLocks xmlns:a="http://schemas.openxmlformats.org/drawingml/2006/main" noGrp="1"/>
          </p:cNvSpPr>
          <p:nvPr/>
        </p:nvSpPr>
        <p:spPr>
          <a:xfrm xmlns:a="http://schemas.openxmlformats.org/drawingml/2006/main">
            <a:off x="9210675" y="2381250"/>
            <a:ext cx="2619375" cy="2381250"/>
          </a:xfrm>
          <a:prstGeom xmlns:a="http://schemas.openxmlformats.org/drawingml/2006/main" prst="roundRect">
            <a:avLst>
              <a:gd name="adj" fmla="val 4800"/>
            </a:avLst>
          </a:prstGeom>
          <a:noFill xmlns:a="http://schemas.openxmlformats.org/drawingml/2006/main"/>
          <a:ln xmlns:a="http://schemas.openxmlformats.org/drawingml/2006/main" w="9525">
            <a:solidFill>
              <a:srgbClr val="EAD2AE"/>
            </a:solidFill>
            <a:prstDash val="solid"/>
          </a:ln>
        </p:spPr>
      </p:sp>
      <p:sp>
        <p:nvSpPr>
          <p:cNvPr id="13" name="Rectangle 12">
            <a:extLst xmlns:a="http://schemas.openxmlformats.org/drawingml/2006/main">
              <a:ext uri="{FF2B5EF4-FFF2-40B4-BE49-F238E27FC236}">
                <a16:creationId xmlns:a16="http://schemas.microsoft.com/office/drawing/2014/main" id="{819AF333-CFAB-40EC-88E6-3EBDA680DA9E}"/>
              </a:ext>
            </a:extLst>
          </p:cNvPr>
          <p:cNvSpPr>
            <a:spLocks xmlns:a="http://schemas.openxmlformats.org/drawingml/2006/main" noGrp="1"/>
          </p:cNvSpPr>
          <p:nvPr/>
        </p:nvSpPr>
        <p:spPr>
          <a:xfrm xmlns:a="http://schemas.openxmlformats.org/drawingml/2006/main">
            <a:off x="704850" y="49720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38100" rIns="38100" bIns="38100" anchor="t">
            <a:normAutofit fontScale="100000"/>
          </a:bodyPr>
          <a:lstStyle xmlns:a="http://schemas.openxmlformats.org/drawingml/2006/main"/>
          <a:p xmlns:a="http://schemas.openxmlformats.org/drawingml/2006/main">
            <a:pPr algn="l">
              <a:lnSpc>
                <a:spcPct val="105000"/>
              </a:lnSpc>
              <a:buNone/>
              <a:defRPr sz="1700" b="1">
                <a:solidFill>
                  <a:srgbClr val="5A665F"/>
                </a:solidFill>
                <a:latin typeface="Aptos"/>
                <a:ea typeface="Aptos"/>
                <a:cs typeface="Aptos"/>
              </a:defRPr>
            </a:pPr>
            <a:r>
              <a:rPr sz="1700" b="1">
                <a:solidFill>
                  <a:srgbClr val="5A665F"/>
                </a:solidFill>
                <a:latin typeface="Aptos"/>
                <a:ea typeface="Aptos"/>
                <a:cs typeface="Aptos"/>
              </a:rPr>
              <a:t>Sentence starter: The evidence shows ____. This matters because ____. Therefore ____.</a:t>
            </a:r>
          </a:p>
        </p:txBody>
      </p:sp>
    </p:spTree>
    <p:extLst>
      <p:ext uri="{BB962C8B-B14F-4D97-AF65-F5344CB8AC3E}">
        <p14:creationId xmlns:p14="http://schemas.microsoft.com/office/powerpoint/2010/main" val="1924835816"/>
      </p:ext>
    </p:extLst>
  </p:cSld>
</p:sld>
</file>

<file path=ppt/slides/slide8.xml><?xml version="1.0" encoding="utf-8"?>
<p:sld xmlns:p="http://schemas.openxmlformats.org/presentationml/2006/main">
  <p:cSld>
    <p:bg>
      <p:bgPr>
        <a:solidFill xmlns:a="http://schemas.openxmlformats.org/drawingml/2006/main">
          <a:srgbClr val="F8F2E8"/>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3FB9544D-AF55-480E-ACA9-CBF758DE4DED}"/>
              </a:ext>
            </a:extLst>
          </p:cNvPr>
          <p:cNvSpPr>
            <a:spLocks xmlns:a="http://schemas.openxmlformats.org/drawingml/2006/main" noGrp="1"/>
          </p:cNvSpPr>
          <p:nvPr/>
        </p:nvSpPr>
        <p:spPr>
          <a:xfrm xmlns:a="http://schemas.openxmlformats.org/drawingml/2006/main">
            <a:off x="628650" y="1352550"/>
            <a:ext cx="5810250" cy="1257300"/>
          </a:xfrm>
          <a:prstGeom xmlns:a="http://schemas.openxmlformats.org/drawingml/2006/main" prst="rect">
            <a:avLst/>
          </a:prstGeom>
        </p:spPr>
        <p:txBody>
          <a:bodyPr xmlns:a="http://schemas.openxmlformats.org/drawingml/2006/main" lIns="38100" tIns="38100" rIns="38100" bIns="38100" anchor="t">
            <a:normAutofit fontScale="94145"/>
          </a:bodyPr>
          <a:lstStyle xmlns:a="http://schemas.openxmlformats.org/drawingml/2006/main"/>
          <a:p xmlns:a="http://schemas.openxmlformats.org/drawingml/2006/main">
            <a:pPr algn="l">
              <a:lnSpc>
                <a:spcPct val="98000"/>
              </a:lnSpc>
              <a:buNone/>
              <a:defRPr sz="4200" b="1">
                <a:solidFill>
                  <a:srgbClr val="173126"/>
                </a:solidFill>
                <a:latin typeface="Aptos"/>
                <a:ea typeface="Aptos"/>
                <a:cs typeface="Aptos"/>
              </a:defRPr>
            </a:pPr>
            <a:r>
              <a:rPr sz="4200" b="1">
                <a:solidFill>
                  <a:srgbClr val="173126"/>
                </a:solidFill>
                <a:latin typeface="Aptos"/>
                <a:ea typeface="Aptos"/>
                <a:cs typeface="Aptos"/>
              </a:rPr>
              <a:t>Exit ticket: carry one decision forward</a:t>
            </a:r>
          </a:p>
        </p:txBody>
      </p:sp>
      <p:sp>
        <p:nvSpPr>
          <p:cNvPr id="2" name="Subtitle-4-2">
            <a:extLst xmlns:a="http://schemas.openxmlformats.org/drawingml/2006/main">
              <a:ext uri="{FF2B5EF4-FFF2-40B4-BE49-F238E27FC236}">
                <a16:creationId xmlns:a16="http://schemas.microsoft.com/office/drawing/2014/main" id="{37162B0B-61CF-4E28-975D-100A269EB1FC}"/>
              </a:ext>
            </a:extLst>
          </p:cNvPr>
          <p:cNvSpPr>
            <a:spLocks xmlns:a="http://schemas.openxmlformats.org/drawingml/2006/main" noGrp="1"/>
          </p:cNvSpPr>
          <p:nvPr/>
        </p:nvSpPr>
        <p:spPr>
          <a:xfrm xmlns:a="http://schemas.openxmlformats.org/drawingml/2006/main">
            <a:off x="666750" y="3048000"/>
            <a:ext cx="5429250" cy="2095500"/>
          </a:xfrm>
          <a:prstGeom xmlns:a="http://schemas.openxmlformats.org/drawingml/2006/main" prst="rect">
            <a:avLst/>
          </a:prstGeom>
        </p:spPr>
        <p:txBody>
          <a:bodyPr xmlns:a="http://schemas.openxmlformats.org/drawingml/2006/main" lIns="38100" tIns="38100" rIns="38100" bIns="38100" anchor="t">
            <a:normAutofit fontScale="76662"/>
          </a:bodyPr>
          <a:lstStyle xmlns:a="http://schemas.openxmlformats.org/drawingml/2006/main"/>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1. Name one relationship you can now explain.</a:t>
            </a:r>
          </a:p>
          <a:p xmlns:a="http://schemas.openxmlformats.org/drawingml/2006/main">
            <a:pPr algn="l">
              <a:buNone/>
              <a:defRPr sz="2400">
                <a:solidFill>
                  <a:srgbClr val="000000"/>
                </a:solidFill>
                <a:latin typeface="Helvetica Neue"/>
                <a:ea typeface="Helvetica Neue"/>
                <a:cs typeface="Helvetica Neue"/>
              </a:defRPr>
            </a:pPr>
            <a:r>
              <a:t/>
            </a:r>
            <a:endParaRPr sz="2200" b="0">
              <a:solidFill>
                <a:srgbClr val="173126"/>
              </a:solidFill>
              <a:latin typeface="Aptos"/>
              <a:ea typeface="Aptos"/>
              <a:cs typeface="Aptos"/>
            </a:endParaRP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2. Record the evidence that makes your reasoning convincing.</a:t>
            </a:r>
          </a:p>
          <a:p xmlns:a="http://schemas.openxmlformats.org/drawingml/2006/main">
            <a:pPr algn="l">
              <a:buNone/>
              <a:defRPr sz="2400">
                <a:solidFill>
                  <a:srgbClr val="000000"/>
                </a:solidFill>
                <a:latin typeface="Helvetica Neue"/>
                <a:ea typeface="Helvetica Neue"/>
                <a:cs typeface="Helvetica Neue"/>
              </a:defRPr>
            </a:pPr>
            <a:r>
              <a:t/>
            </a:r>
            <a:endParaRPr sz="2200" b="0">
              <a:solidFill>
                <a:srgbClr val="173126"/>
              </a:solidFill>
              <a:latin typeface="Aptos"/>
              <a:ea typeface="Aptos"/>
              <a:cs typeface="Aptos"/>
            </a:endParaRPr>
          </a:p>
          <a:p xmlns:a="http://schemas.openxmlformats.org/drawingml/2006/main">
            <a:pPr algn="l">
              <a:lnSpc>
                <a:spcPct val="115000"/>
              </a:lnSpc>
              <a:buNone/>
              <a:defRPr sz="2200" b="0">
                <a:solidFill>
                  <a:srgbClr val="173126"/>
                </a:solidFill>
                <a:latin typeface="Aptos"/>
                <a:ea typeface="Aptos"/>
                <a:cs typeface="Aptos"/>
              </a:defRPr>
            </a:pPr>
            <a:r>
              <a:rPr sz="2200" b="0">
                <a:solidFill>
                  <a:srgbClr val="173126"/>
                </a:solidFill>
                <a:latin typeface="Aptos"/>
                <a:ea typeface="Aptos"/>
                <a:cs typeface="Aptos"/>
              </a:rPr>
              <a:t>3. Save one module response or activity, then carry useful evidence into My folio.</a:t>
            </a:r>
          </a:p>
        </p:txBody>
      </p:sp>
      <p:sp>
        <p:nvSpPr>
          <p:cNvPr id="3" name="Subtitle-4-3">
            <a:extLst xmlns:a="http://schemas.openxmlformats.org/drawingml/2006/main">
              <a:ext uri="{FF2B5EF4-FFF2-40B4-BE49-F238E27FC236}">
                <a16:creationId xmlns:a16="http://schemas.microsoft.com/office/drawing/2014/main" id="{14BE888C-8D03-4186-B5D1-4BD3576D68EF}"/>
              </a:ext>
            </a:extLst>
          </p:cNvPr>
          <p:cNvSpPr>
            <a:spLocks xmlns:a="http://schemas.openxmlformats.org/drawingml/2006/main" noGrp="1"/>
          </p:cNvSpPr>
          <p:nvPr/>
        </p:nvSpPr>
        <p:spPr>
          <a:xfrm xmlns:a="http://schemas.openxmlformats.org/drawingml/2006/main">
            <a:off x="666750" y="819150"/>
            <a:ext cx="2857500" cy="266700"/>
          </a:xfrm>
          <a:prstGeom xmlns:a="http://schemas.openxmlformats.org/drawingml/2006/main" prst="rect">
            <a:avLst/>
          </a:prstGeom>
        </p:spPr>
        <p:txBody>
          <a:bodyPr xmlns:a="http://schemas.openxmlformats.org/drawingml/2006/main" lIns="38100" tIns="38100" rIns="38100" bIns="38100" anchor="t">
            <a:normAutofit fontScale="85034"/>
          </a:bodyPr>
          <a:lstStyle xmlns:a="http://schemas.openxmlformats.org/drawingml/2006/main"/>
          <a:p xmlns:a="http://schemas.openxmlformats.org/drawingml/2006/main">
            <a:pPr algn="l">
              <a:lnSpc>
                <a:spcPct val="105000"/>
              </a:lnSpc>
              <a:buNone/>
              <a:defRPr sz="1400" b="1">
                <a:solidFill>
                  <a:srgbClr val="D8941C"/>
                </a:solidFill>
                <a:latin typeface="Aptos"/>
                <a:ea typeface="Aptos"/>
                <a:cs typeface="Aptos"/>
              </a:defRPr>
            </a:pPr>
            <a:r>
              <a:rPr sz="1400" b="1">
                <a:solidFill>
                  <a:srgbClr val="D8941C"/>
                </a:solidFill>
                <a:latin typeface="Aptos"/>
                <a:ea typeface="Aptos"/>
                <a:cs typeface="Aptos"/>
              </a:rPr>
              <a:t>YOUR NEXT MOVE</a:t>
            </a:r>
          </a:p>
        </p:txBody>
      </p:sp>
      <p:pic>
        <p:nvPicPr>
          <p:cNvPr id="9" name="Picture 8"/>
          <p:cNvPicPr>
            <a:picLocks xmlns:a="http://schemas.openxmlformats.org/drawingml/2006/main" noChangeAspect="1"/>
          </p:cNvPicPr>
          <p:nvPr/>
        </p:nvPicPr>
        <p:blipFill>
          <a:blip xmlns:r="http://schemas.openxmlformats.org/officeDocument/2006/relationships" xmlns:a="http://schemas.openxmlformats.org/drawingml/2006/main" r:embed="R01e4e321eb7f4725"/>
          <a:srcRect xmlns:a="http://schemas.openxmlformats.org/drawingml/2006/main" l="0" t="0" r="0" b="0"/>
          <a:stretch xmlns:a="http://schemas.openxmlformats.org/drawingml/2006/main">
            <a:fillRect l="0" t="0" r="0" b="0"/>
          </a:stretch>
        </p:blipFill>
        <p:spPr>
          <a:xfrm xmlns:a="http://schemas.openxmlformats.org/drawingml/2006/main" flipH="0" flipV="0">
            <a:off x="6953250" y="0"/>
            <a:ext cx="5238750" cy="6858000"/>
          </a:xfrm>
          <a:prstGeom xmlns:a="http://schemas.openxmlformats.org/drawingml/2006/main" prst="rect">
            <a:avLst/>
          </a:prstGeom>
        </p:spPr>
      </p:pic>
    </p:spTree>
    <p:extLst>
      <p:ext uri="{BB962C8B-B14F-4D97-AF65-F5344CB8AC3E}">
        <p14:creationId xmlns:p14="http://schemas.microsoft.com/office/powerpoint/2010/main" val="5206888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2026-08-30T09:42:25.1540000Z</dcterms:created>
  <dcterms:modified xsi:type="dcterms:W3CDTF">2026-08-30T09:42:25.1540000Z</dcterms:modified>
</coreProperties>
</file>