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eecebf2d6d4db9" /><Relationship Type="http://schemas.openxmlformats.org/officeDocument/2006/relationships/extended-properties" Target="/docProps/app.xml" Id="R62b4862076e840fe" /><Relationship Type="http://schemas.openxmlformats.org/officeDocument/2006/relationships/officeDocument" Target="/ppt/presentation.xml" Id="Rb699396ee2bc4b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73d4f3e9e54fd2"/>
  </p:sldMasterIdLst>
  <p:notesMasterIdLst>
    <p:notesMasterId xmlns:r="http://schemas.openxmlformats.org/officeDocument/2006/relationships" r:id="Rc7a419b4b64646c6"/>
  </p:notesMasterIdLst>
  <p:sldIdLst>
    <p:sldId xmlns:r="http://schemas.openxmlformats.org/officeDocument/2006/relationships" id="256" r:id="Rfef739d2a3da443d"/>
    <p:sldId xmlns:r="http://schemas.openxmlformats.org/officeDocument/2006/relationships" id="257" r:id="R0de5a55fa839490d"/>
    <p:sldId xmlns:r="http://schemas.openxmlformats.org/officeDocument/2006/relationships" id="258" r:id="R5e1e57905dc54539"/>
    <p:sldId xmlns:r="http://schemas.openxmlformats.org/officeDocument/2006/relationships" id="259" r:id="R5efd7d80aa7f4f45"/>
    <p:sldId xmlns:r="http://schemas.openxmlformats.org/officeDocument/2006/relationships" id="260" r:id="R2af26696d2844a5d"/>
    <p:sldId xmlns:r="http://schemas.openxmlformats.org/officeDocument/2006/relationships" id="261" r:id="R038d0e08ac2f49f4"/>
    <p:sldId xmlns:r="http://schemas.openxmlformats.org/officeDocument/2006/relationships" id="262" r:id="R2e9118e568dd4a29"/>
    <p:sldId xmlns:r="http://schemas.openxmlformats.org/officeDocument/2006/relationships" id="263" r:id="Rbbdb8c55d5604e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f31bd9e26345cc" /><Relationship Type="http://schemas.openxmlformats.org/officeDocument/2006/relationships/slideMaster" Target="/ppt/slideMasters/slideMaster1.xml" Id="Rbe73d4f3e9e54fd2" /><Relationship Type="http://schemas.openxmlformats.org/officeDocument/2006/relationships/notesMaster" Target="/ppt/notesMasters/notesMaster1.xml" Id="Rc7a419b4b64646c6" /><Relationship Type="http://schemas.openxmlformats.org/officeDocument/2006/relationships/presProps" Target="/ppt/presProps.xml" Id="R715e9cdecfdd4c11" /><Relationship Type="http://schemas.openxmlformats.org/officeDocument/2006/relationships/viewProps" Target="/ppt/viewProps.xml" Id="R1786bfa38c1e4632" /><Relationship Type="http://schemas.openxmlformats.org/officeDocument/2006/relationships/tableStyles" Target="/ppt/tableStyles.xml" Id="Re70f653a71994644" /><Relationship Type="http://schemas.openxmlformats.org/officeDocument/2006/relationships/slide" Target="/ppt/slides/slide1.xml" Id="Rfef739d2a3da443d" /><Relationship Type="http://schemas.openxmlformats.org/officeDocument/2006/relationships/slide" Target="/ppt/slides/slide2.xml" Id="R0de5a55fa839490d" /><Relationship Type="http://schemas.openxmlformats.org/officeDocument/2006/relationships/slide" Target="/ppt/slides/slide3.xml" Id="R5e1e57905dc54539" /><Relationship Type="http://schemas.openxmlformats.org/officeDocument/2006/relationships/slide" Target="/ppt/slides/slide4.xml" Id="R5efd7d80aa7f4f45" /><Relationship Type="http://schemas.openxmlformats.org/officeDocument/2006/relationships/slide" Target="/ppt/slides/slide5.xml" Id="R2af26696d2844a5d" /><Relationship Type="http://schemas.openxmlformats.org/officeDocument/2006/relationships/slide" Target="/ppt/slides/slide6.xml" Id="R038d0e08ac2f49f4" /><Relationship Type="http://schemas.openxmlformats.org/officeDocument/2006/relationships/slide" Target="/ppt/slides/slide7.xml" Id="R2e9118e568dd4a29" /><Relationship Type="http://schemas.openxmlformats.org/officeDocument/2006/relationships/slide" Target="/ppt/slides/slide8.xml" Id="Rbbdb8c55d5604e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d789ed253746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cea3ca0ae24412" /><Relationship Type="http://schemas.openxmlformats.org/officeDocument/2006/relationships/notesMaster" Target="/ppt/notesMasters/notesMaster1.xml" Id="R33d47a3f4c744b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feb9e8e71a449d" /><Relationship Type="http://schemas.openxmlformats.org/officeDocument/2006/relationships/notesMaster" Target="/ppt/notesMasters/notesMaster1.xml" Id="R2a1c4a05cb4c44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02ef494df84751" /><Relationship Type="http://schemas.openxmlformats.org/officeDocument/2006/relationships/notesMaster" Target="/ppt/notesMasters/notesMaster1.xml" Id="Rb7abdd6800bc45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a3f4c399db4500" /><Relationship Type="http://schemas.openxmlformats.org/officeDocument/2006/relationships/notesMaster" Target="/ppt/notesMasters/notesMaster1.xml" Id="Rb2477b85734d43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78b77bf4c64f30" /><Relationship Type="http://schemas.openxmlformats.org/officeDocument/2006/relationships/notesMaster" Target="/ppt/notesMasters/notesMaster1.xml" Id="Rcc624b56d69a47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65e4d4f4f84565" /><Relationship Type="http://schemas.openxmlformats.org/officeDocument/2006/relationships/notesMaster" Target="/ppt/notesMasters/notesMaster1.xml" Id="R4fafb6fbe8354d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8eb2770f1c4b45" /><Relationship Type="http://schemas.openxmlformats.org/officeDocument/2006/relationships/notesMaster" Target="/ppt/notesMasters/notesMaster1.xml" Id="Rdce48f3f237047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c5318ecc964354" /><Relationship Type="http://schemas.openxmlformats.org/officeDocument/2006/relationships/notesMaster" Target="/ppt/notesMasters/notesMaster1.xml" Id="Reae56a7c9db644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retrieval question and give students quiet thinking time. Frame Module 1 as part of the concurrent Year 12 strands of theory, Major Textiles Project thinking and examination preparation.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SRC-WWHS-PROGRAM-INTRO: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SRC-WWHS-TASK1-HISTORICAL: authorised course source.</a:t>
            </a:r>
          </a:p>
          <a:p xmlns:a="http://schemas.openxmlformats.org/drawingml/2006/main">
            <a:r>
              <a:t>- course-content.js: m01s01, local source-grounded learning package.</a:t>
            </a:r>
          </a:p>
          <a:p xmlns:a="http://schemas.openxmlformats.org/drawingml/2006/main">
            <a:r>
              <a:t>- Generated visual: assets/images/m01s01.png,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three named sections as one reasoning sequence. Ask students to listen for the evidence relationship that carries from one section into the next.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SRC-WWHS-PROGRAM-INTRO: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SRC-WWHS-TASK1-HISTORICAL: authorised course source.</a:t>
            </a:r>
          </a:p>
          <a:p xmlns:a="http://schemas.openxmlformats.org/drawingml/2006/main">
            <a:r>
              <a:t>- course-content.js: m01,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SRC-WWHS-PROGRAM-INTRO: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SRC-WWHS-TASK1-HISTORICAL: authorised course source.</a:t>
            </a:r>
          </a:p>
          <a:p xmlns:a="http://schemas.openxmlformats.org/drawingml/2006/main">
            <a:r>
              <a:t>- course-content.js: m01s01, local source-grounded learning package.</a:t>
            </a:r>
          </a:p>
          <a:p xmlns:a="http://schemas.openxmlformats.org/drawingml/2006/main">
            <a:r>
              <a:t>- Generated visual: assets/images/m01s01.png,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SRC-WWHS-PROGRAM-INTRO: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SRC-WWHS-TASK1-HISTORICAL: authorised course source.</a:t>
            </a:r>
          </a:p>
          <a:p xmlns:a="http://schemas.openxmlformats.org/drawingml/2006/main">
            <a:r>
              <a:t>- course-content.js: m01s02, local source-grounded learning package.</a:t>
            </a:r>
          </a:p>
          <a:p xmlns:a="http://schemas.openxmlformats.org/drawingml/2006/main">
            <a:r>
              <a:t>- Generated visual: assets/images/m01s02.png,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SRC-WWHS-PROGRAM-INTRO: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SRC-WWHS-TASK1-HISTORICAL: authorised course source.</a:t>
            </a:r>
          </a:p>
          <a:p xmlns:a="http://schemas.openxmlformats.org/drawingml/2006/main">
            <a:r>
              <a:t>- course-content.js: m01s03, local source-grounded learning package.</a:t>
            </a:r>
          </a:p>
          <a:p xmlns:a="http://schemas.openxmlformats.org/drawingml/2006/main">
            <a:r>
              <a:t>- Generated visual: assets/images/m01s03.png,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formative pause. Invite one precise sentence for each prompt, then send students back to the matching theory when their explanation names a fact without showing the relationship.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SRC-WWHS-PROGRAM-INTRO: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SRC-WWHS-TASK1-HISTORICAL: authorised course source.</a:t>
            </a:r>
          </a:p>
          <a:p xmlns:a="http://schemas.openxmlformats.org/drawingml/2006/main">
            <a:r>
              <a:t>- course-content.js: m01,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finished answer. Keep the talk track moving from the command term to relevant evidence, connected explanation and a final check against the prompt.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SRC-WWHS-PROGRAM-INTRO: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SRC-WWHS-TASK1-HISTORICAL: authorised course source.</a:t>
            </a:r>
          </a:p>
          <a:p xmlns:a="http://schemas.openxmlformats.org/drawingml/2006/main">
            <a:r>
              <a:t>- course-content.js: m01s03,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with one spoken or written exit response. Direct students to save one formative record in the module and carry only purposeful evidence into My folio; no formal submission condition is asserted here.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SRC-WWHS-PROGRAM-INTRO: authorised course source.</a:t>
            </a:r>
          </a:p>
          <a:p xmlns:a="http://schemas.openxmlformats.org/drawingml/2006/main">
            <a:r>
              <a:t>- SRC-WWHS-MTP-PROGRAM: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SRC-WWHS-TASK1-HISTORICAL: authorised course source.</a:t>
            </a:r>
          </a:p>
          <a:p xmlns:a="http://schemas.openxmlformats.org/drawingml/2006/main">
            <a:r>
              <a:t>- course-content.js: m01s01, local source-grounded learning package.</a:t>
            </a:r>
          </a:p>
          <a:p xmlns:a="http://schemas.openxmlformats.org/drawingml/2006/main">
            <a:r>
              <a:t>- Generated visual: assets/images/m01s01.png,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49e25e422948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ca72f97c504905" /><Relationship Type="http://schemas.openxmlformats.org/officeDocument/2006/relationships/slideLayout" Target="/ppt/slideLayouts/slideLayout1.xml" Id="Re38a6e5a1b8840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8a6e5a1b8840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019969a144420" /><Relationship Type="http://schemas.openxmlformats.org/officeDocument/2006/relationships/image" Target="/ppt/media/image.jpeg" Id="R55b279f850b543f1" /><Relationship Type="http://schemas.openxmlformats.org/officeDocument/2006/relationships/notesSlide" Target="/ppt/notesSlides/notesSlide1.xml" Id="R3b0804d4a5e74e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0d37984934a71" /><Relationship Type="http://schemas.openxmlformats.org/officeDocument/2006/relationships/notesSlide" Target="/ppt/notesSlides/notesSlide2.xml" Id="R752b8a3f0d364d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be15be32d4a28" /><Relationship Type="http://schemas.openxmlformats.org/officeDocument/2006/relationships/image" Target="/ppt/media/image2.jpeg" Id="R8607b8f236fb4273" /><Relationship Type="http://schemas.openxmlformats.org/officeDocument/2006/relationships/notesSlide" Target="/ppt/notesSlides/notesSlide3.xml" Id="Ra967afade2d145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bac9ead134266" /><Relationship Type="http://schemas.openxmlformats.org/officeDocument/2006/relationships/image" Target="/ppt/media/image3.jpeg" Id="R49819fb510d4423e" /><Relationship Type="http://schemas.openxmlformats.org/officeDocument/2006/relationships/notesSlide" Target="/ppt/notesSlides/notesSlide4.xml" Id="R56a1c7f6d03549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e3e91a0ab43e5" /><Relationship Type="http://schemas.openxmlformats.org/officeDocument/2006/relationships/image" Target="/ppt/media/image4.jpeg" Id="R463ea1dfa15e44ba" /><Relationship Type="http://schemas.openxmlformats.org/officeDocument/2006/relationships/notesSlide" Target="/ppt/notesSlides/notesSlide5.xml" Id="R215cfb35d4a141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ad11109854b02" /><Relationship Type="http://schemas.openxmlformats.org/officeDocument/2006/relationships/notesSlide" Target="/ppt/notesSlides/notesSlide6.xml" Id="R2ab5ddedf3dc4f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d1053764f4573" /><Relationship Type="http://schemas.openxmlformats.org/officeDocument/2006/relationships/notesSlide" Target="/ppt/notesSlides/notesSlide7.xml" Id="Rb381eb5648c648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8be9adc9a4317" /><Relationship Type="http://schemas.openxmlformats.org/officeDocument/2006/relationships/image" Target="/ppt/media/image.jpeg" Id="R3b4da72c8de246bf" /><Relationship Type="http://schemas.openxmlformats.org/officeDocument/2006/relationships/notesSlide" Target="/ppt/notesSlides/notesSlide8.xml" Id="R86bcc1b1638544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HSC Transition and MTP Launch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Builds the HSC course map, establishes safe MTP boundaries and moves from inspiration to a feasible brief.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YEAR 12 TEXTILES AND DESIGN · MODULE 1 · TERM 4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279f850b543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48375" y="628650"/>
            <a:ext cx="5429250" cy="5295900"/>
          </a:xfrm>
          <a:prstGeom xmlns:a="http://schemas.openxmlformats.org/drawingml/2006/main" prst="round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Which statement best describes the relationship between Preliminary and HSC Textiles and Design?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47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sections build HSC Transition and MTP Launch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The HSC course map and two-year bridge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MTP focus areas, requirements and evidence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From design inspiration to a workable brief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source-grounded knowledge → visible evidence → a supported textile decision.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From Preliminary foundations to HSC study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From Preliminary foundations to HSC study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The HSC course map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From knowing to deciding independently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“Map the two-year bridge” and justify one decision.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7b8f236fb42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Notice which visible evidence supports the section’s key relationship.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Choosing within the five focus areas</a:t>
            </a:r>
          </a:p>
        </p:txBody>
      </p:sp>
      <p:cxnSp>
        <p:nvCxnSpPr>
          <p:cNvPr id="41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Choosing within the five focus areas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The textile item and supporting documentation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Building an evidence chain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53" name="Pictur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19fb510d442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“Build the MTP decision chain” and justify one decision.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From broad inspiration to a design direction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From broad inspiration to a design direction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Building a clear design brief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Testing whether the brief is workable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“Build the brief” and justify one decision.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ea1dfa15e44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Notice which visible evidence supports the section’s key relationship.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Retrieve the relationship—not just the definition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1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The HSC course map and two-year bridge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2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MTP focus areas, requirements and evidence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3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From design inspiration to a workable brief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write one precise evidence-based sentence for each prompt.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287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92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Identify the command term and exact relationship.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Choose relevant course evidence.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evidence to the textile decision.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Make a supported judgement and answer every part.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explain how a designer can transform broad inspiration into a workable textile design brief without fixing the final solution too early.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The evidence shows ____. This matters because ____. Therefore ____.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carry one decision forward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76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relationship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22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Record the evidence that makes your reasoning convincing.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22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Save one module response or activity, then carry useful evidence into My folio.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da72c8de246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2026-08-30T09:41:29.3330000Z</dcterms:created>
  <dcterms:modified xsi:type="dcterms:W3CDTF">2026-08-30T09:41:29.3330000Z</dcterms:modified>
</coreProperties>
</file>