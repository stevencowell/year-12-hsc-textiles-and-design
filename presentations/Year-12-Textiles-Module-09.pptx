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e32a451cf54bda" /><Relationship Type="http://schemas.openxmlformats.org/officeDocument/2006/relationships/extended-properties" Target="/docProps/app.xml" Id="Rb3a07369a78246e1" /><Relationship Type="http://schemas.openxmlformats.org/officeDocument/2006/relationships/officeDocument" Target="/ppt/presentation.xml" Id="R7a8572a334c149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41a2bac1cf43a1"/>
  </p:sldMasterIdLst>
  <p:notesMasterIdLst>
    <p:notesMasterId xmlns:r="http://schemas.openxmlformats.org/officeDocument/2006/relationships" r:id="Rac92c06bafd34654"/>
  </p:notesMasterIdLst>
  <p:sldIdLst>
    <p:sldId xmlns:r="http://schemas.openxmlformats.org/officeDocument/2006/relationships" id="256" r:id="R476faa9183bc42c4"/>
    <p:sldId xmlns:r="http://schemas.openxmlformats.org/officeDocument/2006/relationships" id="257" r:id="Reccef23fb6914785"/>
    <p:sldId xmlns:r="http://schemas.openxmlformats.org/officeDocument/2006/relationships" id="258" r:id="Rbea86ccc0a244e76"/>
    <p:sldId xmlns:r="http://schemas.openxmlformats.org/officeDocument/2006/relationships" id="259" r:id="R3a277e3c7ee9472e"/>
    <p:sldId xmlns:r="http://schemas.openxmlformats.org/officeDocument/2006/relationships" id="260" r:id="R3915482fb83240f0"/>
    <p:sldId xmlns:r="http://schemas.openxmlformats.org/officeDocument/2006/relationships" id="261" r:id="R08a0f549b8604a37"/>
    <p:sldId xmlns:r="http://schemas.openxmlformats.org/officeDocument/2006/relationships" id="262" r:id="R66515b80eca04f0f"/>
    <p:sldId xmlns:r="http://schemas.openxmlformats.org/officeDocument/2006/relationships" id="263" r:id="R27d60ea716f648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9b08901bc74067" /><Relationship Type="http://schemas.openxmlformats.org/officeDocument/2006/relationships/slideMaster" Target="/ppt/slideMasters/slideMaster1.xml" Id="R7741a2bac1cf43a1" /><Relationship Type="http://schemas.openxmlformats.org/officeDocument/2006/relationships/notesMaster" Target="/ppt/notesMasters/notesMaster1.xml" Id="Rac92c06bafd34654" /><Relationship Type="http://schemas.openxmlformats.org/officeDocument/2006/relationships/presProps" Target="/ppt/presProps.xml" Id="R921545c28c684edc" /><Relationship Type="http://schemas.openxmlformats.org/officeDocument/2006/relationships/viewProps" Target="/ppt/viewProps.xml" Id="Rcd2919c202e34834" /><Relationship Type="http://schemas.openxmlformats.org/officeDocument/2006/relationships/tableStyles" Target="/ppt/tableStyles.xml" Id="R860f264d94aa4a9f" /><Relationship Type="http://schemas.openxmlformats.org/officeDocument/2006/relationships/slide" Target="/ppt/slides/slide1.xml" Id="R476faa9183bc42c4" /><Relationship Type="http://schemas.openxmlformats.org/officeDocument/2006/relationships/slide" Target="/ppt/slides/slide2.xml" Id="Reccef23fb6914785" /><Relationship Type="http://schemas.openxmlformats.org/officeDocument/2006/relationships/slide" Target="/ppt/slides/slide3.xml" Id="Rbea86ccc0a244e76" /><Relationship Type="http://schemas.openxmlformats.org/officeDocument/2006/relationships/slide" Target="/ppt/slides/slide4.xml" Id="R3a277e3c7ee9472e" /><Relationship Type="http://schemas.openxmlformats.org/officeDocument/2006/relationships/slide" Target="/ppt/slides/slide5.xml" Id="R3915482fb83240f0" /><Relationship Type="http://schemas.openxmlformats.org/officeDocument/2006/relationships/slide" Target="/ppt/slides/slide6.xml" Id="R08a0f549b8604a37" /><Relationship Type="http://schemas.openxmlformats.org/officeDocument/2006/relationships/slide" Target="/ppt/slides/slide7.xml" Id="R66515b80eca04f0f" /><Relationship Type="http://schemas.openxmlformats.org/officeDocument/2006/relationships/slide" Target="/ppt/slides/slide8.xml" Id="R27d60ea716f648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cc36febed642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acb7488067449e" /><Relationship Type="http://schemas.openxmlformats.org/officeDocument/2006/relationships/notesMaster" Target="/ppt/notesMasters/notesMaster1.xml" Id="R18adfec10d094d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ee41411af74cda" /><Relationship Type="http://schemas.openxmlformats.org/officeDocument/2006/relationships/notesMaster" Target="/ppt/notesMasters/notesMaster1.xml" Id="R7969e5051e6146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f0db0743db40d9" /><Relationship Type="http://schemas.openxmlformats.org/officeDocument/2006/relationships/notesMaster" Target="/ppt/notesMasters/notesMaster1.xml" Id="R8615d8e4439444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4e23417b9e4925" /><Relationship Type="http://schemas.openxmlformats.org/officeDocument/2006/relationships/notesMaster" Target="/ppt/notesMasters/notesMaster1.xml" Id="R1df4371a8dea48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dccfb29f0440be" /><Relationship Type="http://schemas.openxmlformats.org/officeDocument/2006/relationships/notesMaster" Target="/ppt/notesMasters/notesMaster1.xml" Id="R0d710c45f1cc46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0986ed11fa48e9" /><Relationship Type="http://schemas.openxmlformats.org/officeDocument/2006/relationships/notesMaster" Target="/ppt/notesMasters/notesMaster1.xml" Id="R005e65b1a1e048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ebea7a407446a2" /><Relationship Type="http://schemas.openxmlformats.org/officeDocument/2006/relationships/notesMaster" Target="/ppt/notesMasters/notesMaster1.xml" Id="Rbb921c23349a42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c3355547494a2d" /><Relationship Type="http://schemas.openxmlformats.org/officeDocument/2006/relationships/notesMaster" Target="/ppt/notesMasters/notesMaster1.xml" Id="R4d149c49482c41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retrieval question and give students quiet thinking time. Frame Module 9 as part of the concurrent Year 12 strands of theory, Major Textiles Project thinking and examination preparation.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SRC-WWHS-TERM2-2024: authorised course source.</a:t>
            </a:r>
          </a:p>
          <a:p xmlns:a="http://schemas.openxmlformats.org/drawingml/2006/main">
            <a:r>
              <a:t>- SRC-WWHS-INNOVATIONS-PROGRAM: authorised course source.</a:t>
            </a:r>
          </a:p>
          <a:p xmlns:a="http://schemas.openxmlformats.org/drawingml/2006/main">
            <a:r>
              <a:t>- course-content.js: m09s01, local source-grounded learning package.</a:t>
            </a:r>
          </a:p>
          <a:p xmlns:a="http://schemas.openxmlformats.org/drawingml/2006/main">
            <a:r>
              <a:t>- Generated visual: assets/images/m09s01.png,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three named sections as one reasoning sequence. Ask students to listen for the evidence relationship that carries from one section into the next.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SRC-WWHS-TERM2-2024: authorised course source.</a:t>
            </a:r>
          </a:p>
          <a:p xmlns:a="http://schemas.openxmlformats.org/drawingml/2006/main">
            <a:r>
              <a:t>- SRC-WWHS-INNOVATIONS-PROGRAM: authorised course source.</a:t>
            </a:r>
          </a:p>
          <a:p xmlns:a="http://schemas.openxmlformats.org/drawingml/2006/main">
            <a:r>
              <a:t>- course-content.js: m09,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SRC-WWHS-TERM2-2024: authorised course source.</a:t>
            </a:r>
          </a:p>
          <a:p xmlns:a="http://schemas.openxmlformats.org/drawingml/2006/main">
            <a:r>
              <a:t>- SRC-WWHS-INNOVATIONS-PROGRAM: authorised course source.</a:t>
            </a:r>
          </a:p>
          <a:p xmlns:a="http://schemas.openxmlformats.org/drawingml/2006/main">
            <a:r>
              <a:t>- course-content.js: m09s01, local source-grounded learning package.</a:t>
            </a:r>
          </a:p>
          <a:p xmlns:a="http://schemas.openxmlformats.org/drawingml/2006/main">
            <a:r>
              <a:t>- Generated visual: assets/images/m09s01.png,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SRC-WWHS-TERM2-2024: authorised course source.</a:t>
            </a:r>
          </a:p>
          <a:p xmlns:a="http://schemas.openxmlformats.org/drawingml/2006/main">
            <a:r>
              <a:t>- SRC-WWHS-INNOVATIONS-PROGRAM: authorised course source.</a:t>
            </a:r>
          </a:p>
          <a:p xmlns:a="http://schemas.openxmlformats.org/drawingml/2006/main">
            <a:r>
              <a:t>- course-content.js: m09s02, local source-grounded learning package.</a:t>
            </a:r>
          </a:p>
          <a:p xmlns:a="http://schemas.openxmlformats.org/drawingml/2006/main">
            <a:r>
              <a:t>- Generated visual: assets/images/m09s02.png,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SRC-WWHS-TERM2-2024: authorised course source.</a:t>
            </a:r>
          </a:p>
          <a:p xmlns:a="http://schemas.openxmlformats.org/drawingml/2006/main">
            <a:r>
              <a:t>- SRC-WWHS-INNOVATIONS-PROGRAM: authorised course source.</a:t>
            </a:r>
          </a:p>
          <a:p xmlns:a="http://schemas.openxmlformats.org/drawingml/2006/main">
            <a:r>
              <a:t>- course-content.js: m09s03, local source-grounded learning package.</a:t>
            </a:r>
          </a:p>
          <a:p xmlns:a="http://schemas.openxmlformats.org/drawingml/2006/main">
            <a:r>
              <a:t>- Generated visual: assets/images/m09s03.png,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formative pause. Invite one precise sentence for each prompt, then send students back to the matching theory when their explanation names a fact without showing the relationship.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SRC-WWHS-TERM2-2024: authorised course source.</a:t>
            </a:r>
          </a:p>
          <a:p xmlns:a="http://schemas.openxmlformats.org/drawingml/2006/main">
            <a:r>
              <a:t>- SRC-WWHS-INNOVATIONS-PROGRAM: authorised course source.</a:t>
            </a:r>
          </a:p>
          <a:p xmlns:a="http://schemas.openxmlformats.org/drawingml/2006/main">
            <a:r>
              <a:t>- course-content.js: m09,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finished answer. Keep the talk track moving from the command term to relevant evidence, connected explanation and a final check against the prompt.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SRC-WWHS-TERM2-2024: authorised course source.</a:t>
            </a:r>
          </a:p>
          <a:p xmlns:a="http://schemas.openxmlformats.org/drawingml/2006/main">
            <a:r>
              <a:t>- SRC-WWHS-INNOVATIONS-PROGRAM: authorised course source.</a:t>
            </a:r>
          </a:p>
          <a:p xmlns:a="http://schemas.openxmlformats.org/drawingml/2006/main">
            <a:r>
              <a:t>- course-content.js: m09s03,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 with one spoken or written exit response. Direct students to save one formative record in the module and carry only purposeful evidence into My folio; no formal submission condition is asserted here.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SRC-WWHS-TERM2-2024: authorised course source.</a:t>
            </a:r>
          </a:p>
          <a:p xmlns:a="http://schemas.openxmlformats.org/drawingml/2006/main">
            <a:r>
              <a:t>- SRC-WWHS-INNOVATIONS-PROGRAM: authorised course source.</a:t>
            </a:r>
          </a:p>
          <a:p xmlns:a="http://schemas.openxmlformats.org/drawingml/2006/main">
            <a:r>
              <a:t>- course-content.js: m09s01, local source-grounded learning package.</a:t>
            </a:r>
          </a:p>
          <a:p xmlns:a="http://schemas.openxmlformats.org/drawingml/2006/main">
            <a:r>
              <a:t>- Generated visual: assets/images/m09s01.png,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f7e850df548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f073f974c3422a" /><Relationship Type="http://schemas.openxmlformats.org/officeDocument/2006/relationships/slideLayout" Target="/ppt/slideLayouts/slideLayout1.xml" Id="R7215f28b36f846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15f28b36f846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52f9d87304f35" /><Relationship Type="http://schemas.openxmlformats.org/officeDocument/2006/relationships/image" Target="/ppt/media/image.jpeg" Id="R35500c9da7e24ddc" /><Relationship Type="http://schemas.openxmlformats.org/officeDocument/2006/relationships/notesSlide" Target="/ppt/notesSlides/notesSlide1.xml" Id="R943c83dc804c44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c6c92f9a74aea" /><Relationship Type="http://schemas.openxmlformats.org/officeDocument/2006/relationships/notesSlide" Target="/ppt/notesSlides/notesSlide2.xml" Id="Ra28918562f3c4a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d9b1a46a14ec0" /><Relationship Type="http://schemas.openxmlformats.org/officeDocument/2006/relationships/image" Target="/ppt/media/image2.jpeg" Id="R7d14ca2b1ec04eca" /><Relationship Type="http://schemas.openxmlformats.org/officeDocument/2006/relationships/notesSlide" Target="/ppt/notesSlides/notesSlide3.xml" Id="R74e91ca9c8364d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d582467b24ba1" /><Relationship Type="http://schemas.openxmlformats.org/officeDocument/2006/relationships/image" Target="/ppt/media/image3.jpeg" Id="Rff385c9405a34943" /><Relationship Type="http://schemas.openxmlformats.org/officeDocument/2006/relationships/notesSlide" Target="/ppt/notesSlides/notesSlide4.xml" Id="Re0d2830cb99c48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6a81344aa4f32" /><Relationship Type="http://schemas.openxmlformats.org/officeDocument/2006/relationships/image" Target="/ppt/media/image4.jpeg" Id="Rbdb306e4e4cb461b" /><Relationship Type="http://schemas.openxmlformats.org/officeDocument/2006/relationships/notesSlide" Target="/ppt/notesSlides/notesSlide5.xml" Id="Rf3f1828b578341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d5c7ca0814b17" /><Relationship Type="http://schemas.openxmlformats.org/officeDocument/2006/relationships/notesSlide" Target="/ppt/notesSlides/notesSlide6.xml" Id="R0c424fc8083d43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b611e31044636" /><Relationship Type="http://schemas.openxmlformats.org/officeDocument/2006/relationships/notesSlide" Target="/ppt/notesSlides/notesSlide7.xml" Id="R5d51a9cc38424a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fbdde881642d6" /><Relationship Type="http://schemas.openxmlformats.org/officeDocument/2006/relationships/image" Target="/ppt/media/image.jpeg" Id="Rfb85790e24dd4a93" /><Relationship Type="http://schemas.openxmlformats.org/officeDocument/2006/relationships/notesSlide" Target="/ppt/notesSlides/notesSlide8.xml" Id="R6b7a709460d04c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80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Innovations and Emerging Textile Technologies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Distinguish invention and innovation, locate emerging developments at fibre, yarn and fabric levels, and evaluate product…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YEAR 12 TEXTILES AND DESIGN · MODULE 9 · TERM 2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00c9da7e24d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48375" y="628650"/>
            <a:ext cx="5429250" cy="5295900"/>
          </a:xfrm>
          <a:prstGeom xmlns:a="http://schemas.openxmlformats.org/drawingml/2006/main" prst="round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Which statement best distinguishes an invention from an innovation?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477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43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sections build Innovations and Emerging Textile Technologies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Innovation definitions, needs and drivers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Emerging fibres, yarns and fabrics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Product, process and societal impacts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source-grounded knowledge → visible evidence → a supported textile decision.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A definition ladder for textile innovation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A definition ladder for textile innovation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From textile need to development and adoption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Worked example: a moisture-management textile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“Build the innovation chain” and justify one decision.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4ca2b1ec04e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Notice which visible evidence supports the section’s key relationship.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Locate the innovation: fibre, yarn or fabric</a:t>
            </a:r>
          </a:p>
        </p:txBody>
      </p:sp>
      <p:cxnSp>
        <p:nvCxnSpPr>
          <p:cNvPr id="41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Locate the innovation: fibre, yarn or fabric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Reason from structure to property to performance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Build an evidence profile before making a judgement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53" name="Pictur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85c9405a349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“Classify the innovation pathway” and justify one decision.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11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product, process, stakeholder and life-cycle lenses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Use product, process, stakeholder and life-cycle lenses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Trace trade-offs, evidence limits and reversibility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Worked impact analysis: temperature-managing textile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“Map the impacts and trade-offs” and justify one decision.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306e4e4cb46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Notice which visible evidence supports the section’s key relationship.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Retrieve the relationship—not just the definition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1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Innovation definitions, needs and drivers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2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Emerging fibres, yarns and fabrics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3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Product, process and societal impacts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write one precise evidence-based sentence for each prompt.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287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92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Identify the command term and exact relationship.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Choose relevant course evidence.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evidence to the textile decision.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Make a supported judgement and answer every part.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Evaluate a generic textile innovation as both a product and process change. Consider intended and unintended consequences for different stakeholders and life-cycle stages, then make a qualified judgement about its overall value.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The evidence shows ____. This matters because ____. Therefore ____.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carry one decision forward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76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relationship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22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Record the evidence that makes your reasoning convincing.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22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Save one module response or activity, then carry useful evidence into My folio.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5790e24dd4a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2026-08-30T09:42:03.6050000Z</dcterms:created>
  <dcterms:modified xsi:type="dcterms:W3CDTF">2026-08-30T09:42:03.6050000Z</dcterms:modified>
</coreProperties>
</file>