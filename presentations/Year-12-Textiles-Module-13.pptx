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4d3e0da02a4635" /><Relationship Type="http://schemas.openxmlformats.org/officeDocument/2006/relationships/extended-properties" Target="/docProps/app.xml" Id="R32b82e63a5474c0b" /><Relationship Type="http://schemas.openxmlformats.org/officeDocument/2006/relationships/officeDocument" Target="/ppt/presentation.xml" Id="R9066da13004c4ff9" /></Relationships>
</file>

<file path=ppt/presentation.xml><?xml version="1.0" encoding="utf-8"?>
<p:presentation xmlns:p="http://schemas.openxmlformats.org/presentationml/2006/main">
  <p:sldMasterIdLst>
    <p:sldMasterId xmlns:r="http://schemas.openxmlformats.org/officeDocument/2006/relationships" id="2147483648" r:id="R9dba1e4693bd4826"/>
  </p:sldMasterIdLst>
  <p:notesMasterIdLst>
    <p:notesMasterId xmlns:r="http://schemas.openxmlformats.org/officeDocument/2006/relationships" r:id="Re7a44b722a174754"/>
  </p:notesMasterIdLst>
  <p:sldIdLst>
    <p:sldId xmlns:r="http://schemas.openxmlformats.org/officeDocument/2006/relationships" id="256" r:id="Red6f57e46b5144bb"/>
    <p:sldId xmlns:r="http://schemas.openxmlformats.org/officeDocument/2006/relationships" id="257" r:id="R764bf2fcc93848c7"/>
    <p:sldId xmlns:r="http://schemas.openxmlformats.org/officeDocument/2006/relationships" id="258" r:id="R6d49532cf42b4059"/>
    <p:sldId xmlns:r="http://schemas.openxmlformats.org/officeDocument/2006/relationships" id="259" r:id="R2256451a24724a4d"/>
    <p:sldId xmlns:r="http://schemas.openxmlformats.org/officeDocument/2006/relationships" id="260" r:id="R509c23de126e4101"/>
    <p:sldId xmlns:r="http://schemas.openxmlformats.org/officeDocument/2006/relationships" id="261" r:id="R27ffc325ed8847e9"/>
    <p:sldId xmlns:r="http://schemas.openxmlformats.org/officeDocument/2006/relationships" id="262" r:id="Rd20ba66325934851"/>
    <p:sldId xmlns:r="http://schemas.openxmlformats.org/officeDocument/2006/relationships" id="263" r:id="R4385fb71333641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42d12cd06eb4977" /><Relationship Type="http://schemas.openxmlformats.org/officeDocument/2006/relationships/slideMaster" Target="/ppt/slideMasters/slideMaster1.xml" Id="R9dba1e4693bd4826" /><Relationship Type="http://schemas.openxmlformats.org/officeDocument/2006/relationships/notesMaster" Target="/ppt/notesMasters/notesMaster1.xml" Id="Re7a44b722a174754" /><Relationship Type="http://schemas.openxmlformats.org/officeDocument/2006/relationships/presProps" Target="/ppt/presProps.xml" Id="Rd694d7cf89614e5a" /><Relationship Type="http://schemas.openxmlformats.org/officeDocument/2006/relationships/viewProps" Target="/ppt/viewProps.xml" Id="Rbefc6279248d475d" /><Relationship Type="http://schemas.openxmlformats.org/officeDocument/2006/relationships/tableStyles" Target="/ppt/tableStyles.xml" Id="R159613c2ebec4c0a" /><Relationship Type="http://schemas.openxmlformats.org/officeDocument/2006/relationships/slide" Target="/ppt/slides/slide1.xml" Id="Red6f57e46b5144bb" /><Relationship Type="http://schemas.openxmlformats.org/officeDocument/2006/relationships/slide" Target="/ppt/slides/slide2.xml" Id="R764bf2fcc93848c7" /><Relationship Type="http://schemas.openxmlformats.org/officeDocument/2006/relationships/slide" Target="/ppt/slides/slide3.xml" Id="R6d49532cf42b4059" /><Relationship Type="http://schemas.openxmlformats.org/officeDocument/2006/relationships/slide" Target="/ppt/slides/slide4.xml" Id="R2256451a24724a4d" /><Relationship Type="http://schemas.openxmlformats.org/officeDocument/2006/relationships/slide" Target="/ppt/slides/slide5.xml" Id="R509c23de126e4101" /><Relationship Type="http://schemas.openxmlformats.org/officeDocument/2006/relationships/slide" Target="/ppt/slides/slide6.xml" Id="R27ffc325ed8847e9" /><Relationship Type="http://schemas.openxmlformats.org/officeDocument/2006/relationships/slide" Target="/ppt/slides/slide7.xml" Id="Rd20ba66325934851" /><Relationship Type="http://schemas.openxmlformats.org/officeDocument/2006/relationships/slide" Target="/ppt/slides/slide8.xml" Id="R4385fb71333641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6b8b2c99d441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e4a0b780fd4d64" /><Relationship Type="http://schemas.openxmlformats.org/officeDocument/2006/relationships/notesMaster" Target="/ppt/notesMasters/notesMaster1.xml" Id="R2548869df16e4f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eea6726740456a" /><Relationship Type="http://schemas.openxmlformats.org/officeDocument/2006/relationships/notesMaster" Target="/ppt/notesMasters/notesMaster1.xml" Id="R4fcf9a549c6148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0e2ff6ab9f4947" /><Relationship Type="http://schemas.openxmlformats.org/officeDocument/2006/relationships/notesMaster" Target="/ppt/notesMasters/notesMaster1.xml" Id="Re3e9db4b90d947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5d2ef960df43dd" /><Relationship Type="http://schemas.openxmlformats.org/officeDocument/2006/relationships/notesMaster" Target="/ppt/notesMasters/notesMaster1.xml" Id="Ra9e1b01d4b734d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d2748c0d0a422c" /><Relationship Type="http://schemas.openxmlformats.org/officeDocument/2006/relationships/notesMaster" Target="/ppt/notesMasters/notesMaster1.xml" Id="R63d8634d654549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3a53cae8154895" /><Relationship Type="http://schemas.openxmlformats.org/officeDocument/2006/relationships/notesMaster" Target="/ppt/notesMasters/notesMaster1.xml" Id="R51d2561b633d46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abdf9446ec4141" /><Relationship Type="http://schemas.openxmlformats.org/officeDocument/2006/relationships/notesMaster" Target="/ppt/notesMasters/notesMaster1.xml" Id="R14c23bb01cd441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556e6e0c564a9e" /><Relationship Type="http://schemas.openxmlformats.org/officeDocument/2006/relationships/notesMaster" Target="/ppt/notesMasters/notesMaster1.xml" Id="Rfd06e0aa5f5b43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retrieval question and give students quiet thinking time. Frame Module 13 as part of the concurrent Year 12 strands of theory, Major Textiles Project thinking and examination preparation.</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SRC-WWHS-INDUSTRY-PROGRAM: authorised course source.</a:t>
            </a:r>
          </a:p>
          <a:p xmlns:a="http://schemas.openxmlformats.org/drawingml/2006/main">
            <a:r>
              <a:t>- SRC-WWHS-TERM3-2024: authorised course source.</a:t>
            </a:r>
          </a:p>
          <a:p xmlns:a="http://schemas.openxmlformats.org/drawingml/2006/main">
            <a:r>
              <a:t>- SRC-WWHS-SCOPE-2023-24: authorised course source.</a:t>
            </a:r>
          </a:p>
          <a:p xmlns:a="http://schemas.openxmlformats.org/drawingml/2006/main">
            <a:r>
              <a:t>- course-content.js: m13s01, local source-grounded learning package.</a:t>
            </a:r>
          </a:p>
          <a:p xmlns:a="http://schemas.openxmlformats.org/drawingml/2006/main">
            <a:r>
              <a:t>- Generated visual: assets/images/m13s01.png,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the three named sections as one reasoning sequence. Ask students to listen for the evidence relationship that carries from one section into the next.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SRC-WWHS-INDUSTRY-PROGRAM: authorised course source.</a:t>
            </a:r>
          </a:p>
          <a:p xmlns:a="http://schemas.openxmlformats.org/drawingml/2006/main">
            <a:r>
              <a:t>- SRC-WWHS-TERM3-2024: authorised course source.</a:t>
            </a:r>
          </a:p>
          <a:p xmlns:a="http://schemas.openxmlformats.org/drawingml/2006/main">
            <a:r>
              <a:t>- SRC-WWHS-SCOPE-2023-24: authorised course source.</a:t>
            </a:r>
          </a:p>
          <a:p xmlns:a="http://schemas.openxmlformats.org/drawingml/2006/main">
            <a:r>
              <a:t>- course-content.js: m13,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SRC-WWHS-INDUSTRY-PROGRAM: authorised course source.</a:t>
            </a:r>
          </a:p>
          <a:p xmlns:a="http://schemas.openxmlformats.org/drawingml/2006/main">
            <a:r>
              <a:t>- SRC-WWHS-TERM3-2024: authorised course source.</a:t>
            </a:r>
          </a:p>
          <a:p xmlns:a="http://schemas.openxmlformats.org/drawingml/2006/main">
            <a:r>
              <a:t>- SRC-WWHS-SCOPE-2023-24: authorised course source.</a:t>
            </a:r>
          </a:p>
          <a:p xmlns:a="http://schemas.openxmlformats.org/drawingml/2006/main">
            <a:r>
              <a:t>- course-content.js: m13s01, local source-grounded learning package.</a:t>
            </a:r>
          </a:p>
          <a:p xmlns:a="http://schemas.openxmlformats.org/drawingml/2006/main">
            <a:r>
              <a:t>- Generated visual: assets/images/m13s01.png,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SRC-WWHS-INDUSTRY-PROGRAM: authorised course source.</a:t>
            </a:r>
          </a:p>
          <a:p xmlns:a="http://schemas.openxmlformats.org/drawingml/2006/main">
            <a:r>
              <a:t>- SRC-WWHS-TERM3-2024: authorised course source.</a:t>
            </a:r>
          </a:p>
          <a:p xmlns:a="http://schemas.openxmlformats.org/drawingml/2006/main">
            <a:r>
              <a:t>- SRC-WWHS-SCOPE-2023-24: authorised course source.</a:t>
            </a:r>
          </a:p>
          <a:p xmlns:a="http://schemas.openxmlformats.org/drawingml/2006/main">
            <a:r>
              <a:t>- course-content.js: m13s02, local source-grounded learning package.</a:t>
            </a:r>
          </a:p>
          <a:p xmlns:a="http://schemas.openxmlformats.org/drawingml/2006/main">
            <a:r>
              <a:t>- Generated visual: assets/images/m13s02.png,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SRC-WWHS-INDUSTRY-PROGRAM: authorised course source.</a:t>
            </a:r>
          </a:p>
          <a:p xmlns:a="http://schemas.openxmlformats.org/drawingml/2006/main">
            <a:r>
              <a:t>- SRC-WWHS-TERM3-2024: authorised course source.</a:t>
            </a:r>
          </a:p>
          <a:p xmlns:a="http://schemas.openxmlformats.org/drawingml/2006/main">
            <a:r>
              <a:t>- SRC-WWHS-SCOPE-2023-24: authorised course source.</a:t>
            </a:r>
          </a:p>
          <a:p xmlns:a="http://schemas.openxmlformats.org/drawingml/2006/main">
            <a:r>
              <a:t>- course-content.js: m13s03, local source-grounded learning package.</a:t>
            </a:r>
          </a:p>
          <a:p xmlns:a="http://schemas.openxmlformats.org/drawingml/2006/main">
            <a:r>
              <a:t>- Generated visual: assets/images/m13s03.png,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formative pause. Invite one precise sentence for each prompt, then send students back to the matching theory when their explanation names a fact without showing the relationship.</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SRC-WWHS-INDUSTRY-PROGRAM: authorised course source.</a:t>
            </a:r>
          </a:p>
          <a:p xmlns:a="http://schemas.openxmlformats.org/drawingml/2006/main">
            <a:r>
              <a:t>- SRC-WWHS-TERM3-2024: authorised course source.</a:t>
            </a:r>
          </a:p>
          <a:p xmlns:a="http://schemas.openxmlformats.org/drawingml/2006/main">
            <a:r>
              <a:t>- SRC-WWHS-SCOPE-2023-24: authorised course source.</a:t>
            </a:r>
          </a:p>
          <a:p xmlns:a="http://schemas.openxmlformats.org/drawingml/2006/main">
            <a:r>
              <a:t>- course-content.js: m13,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answer. Keep the talk track moving from the command term to relevant evidence, connected explanation and a final check against the prompt.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SRC-WWHS-INDUSTRY-PROGRAM: authorised course source.</a:t>
            </a:r>
          </a:p>
          <a:p xmlns:a="http://schemas.openxmlformats.org/drawingml/2006/main">
            <a:r>
              <a:t>- SRC-WWHS-TERM3-2024: authorised course source.</a:t>
            </a:r>
          </a:p>
          <a:p xmlns:a="http://schemas.openxmlformats.org/drawingml/2006/main">
            <a:r>
              <a:t>- SRC-WWHS-SCOPE-2023-24: authorised course source.</a:t>
            </a:r>
          </a:p>
          <a:p xmlns:a="http://schemas.openxmlformats.org/drawingml/2006/main">
            <a:r>
              <a:t>- course-content.js: m13s03,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one spoken or written exit response. Direct students to save one formative record in the module and carry only purposeful evidence into My folio; no formal submission condition is asserted here.</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SRC-WWHS-INDUSTRY-PROGRAM: authorised course source.</a:t>
            </a:r>
          </a:p>
          <a:p xmlns:a="http://schemas.openxmlformats.org/drawingml/2006/main">
            <a:r>
              <a:t>- SRC-WWHS-TERM3-2024: authorised course source.</a:t>
            </a:r>
          </a:p>
          <a:p xmlns:a="http://schemas.openxmlformats.org/drawingml/2006/main">
            <a:r>
              <a:t>- SRC-WWHS-SCOPE-2023-24: authorised course source.</a:t>
            </a:r>
          </a:p>
          <a:p xmlns:a="http://schemas.openxmlformats.org/drawingml/2006/main">
            <a:r>
              <a:t>- course-content.js: m13s01, local source-grounded learning package.</a:t>
            </a:r>
          </a:p>
          <a:p xmlns:a="http://schemas.openxmlformats.org/drawingml/2006/main">
            <a:r>
              <a:t>- Generated visual: assets/images/m13s01.png,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71f69b98404d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4b9bd156874909" /><Relationship Type="http://schemas.openxmlformats.org/officeDocument/2006/relationships/slideLayout" Target="/ppt/slideLayouts/slideLayout1.xml" Id="R55a15f19922849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a15f19922849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c1b882cdcc4b37" /><Relationship Type="http://schemas.openxmlformats.org/officeDocument/2006/relationships/image" Target="/ppt/media/image.jpeg" Id="Re3d17c60798a4366" /><Relationship Type="http://schemas.openxmlformats.org/officeDocument/2006/relationships/notesSlide" Target="/ppt/notesSlides/notesSlide1.xml" Id="Rff7715c81efa4d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76a19ebcd54f88" /><Relationship Type="http://schemas.openxmlformats.org/officeDocument/2006/relationships/notesSlide" Target="/ppt/notesSlides/notesSlide2.xml" Id="R1a75a61939d94a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53d910469b4fe0" /><Relationship Type="http://schemas.openxmlformats.org/officeDocument/2006/relationships/image" Target="/ppt/media/image2.jpeg" Id="Rda156ef753c742ed" /><Relationship Type="http://schemas.openxmlformats.org/officeDocument/2006/relationships/notesSlide" Target="/ppt/notesSlides/notesSlide3.xml" Id="R3ee34351824f4c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2b68f7b094432a" /><Relationship Type="http://schemas.openxmlformats.org/officeDocument/2006/relationships/image" Target="/ppt/media/image3.jpeg" Id="R089a74b63c684a06" /><Relationship Type="http://schemas.openxmlformats.org/officeDocument/2006/relationships/notesSlide" Target="/ppt/notesSlides/notesSlide4.xml" Id="R63c8c68df79f47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40ca20269e46a2" /><Relationship Type="http://schemas.openxmlformats.org/officeDocument/2006/relationships/image" Target="/ppt/media/image4.jpeg" Id="R11ad7e6b6c884c04" /><Relationship Type="http://schemas.openxmlformats.org/officeDocument/2006/relationships/notesSlide" Target="/ppt/notesSlides/notesSlide5.xml" Id="R5e8a68e69d144b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8287bf9c9b74a2c" /><Relationship Type="http://schemas.openxmlformats.org/officeDocument/2006/relationships/notesSlide" Target="/ppt/notesSlides/notesSlide6.xml" Id="R76efd01d6cd848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6fc0f5351d428d" /><Relationship Type="http://schemas.openxmlformats.org/officeDocument/2006/relationships/notesSlide" Target="/ppt/notesSlides/notesSlide7.xml" Id="Rf7949e58b70d41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14b3ac2c914e87" /><Relationship Type="http://schemas.openxmlformats.org/officeDocument/2006/relationships/image" Target="/ppt/media/image.jpeg" Id="R3f23f835ef7844d7" /><Relationship Type="http://schemas.openxmlformats.org/officeDocument/2006/relationships/notesSlide" Target="/ppt/notesSlides/notesSlide8.xml" Id="R49713ddf9a9d42b6"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88095"/>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The Australian Textiles Industry and Marketplace</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94203"/>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Maps Australian textile-industry sectors and supply relationships, then connects product development, marketing and…</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12 TEXTILES AND DESIGN · MODULE 13 · TERM 3</a:t>
            </a:r>
          </a:p>
        </p:txBody>
      </p:sp>
      <p:sp>
        <p:nvSpPr>
          <p:cNvPr id="5" name="Rectangle: Rounded Corners 4">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Picture 12"/>
          <p:cNvPicPr>
            <a:picLocks xmlns:a="http://schemas.openxmlformats.org/drawingml/2006/main" noChangeAspect="1"/>
          </p:cNvPicPr>
          <p:nvPr/>
        </p:nvPicPr>
        <p:blipFill>
          <a:blip xmlns:r="http://schemas.openxmlformats.org/officeDocument/2006/relationships" xmlns:a="http://schemas.openxmlformats.org/drawingml/2006/main" r:embed="Re3d17c60798a4366"/>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Rectangle 6">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91415"/>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A student maps a fictional textile product as separate boxes for supplier, designer, manufacturer, distributor…</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400050"/>
            <a:ext cx="10477500" cy="1047750"/>
          </a:xfrm>
          <a:prstGeom xmlns:a="http://schemas.openxmlformats.org/drawingml/2006/main" prst="rect">
            <a:avLst/>
          </a:prstGeom>
        </p:spPr>
        <p:txBody>
          <a:bodyPr xmlns:a="http://schemas.openxmlformats.org/drawingml/2006/main" lIns="38100" tIns="38100" rIns="38100" bIns="38100" anchor="t">
            <a:normAutofit fontScale="84325"/>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Three sections build The Australian Textiles Industry and Marketplace</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Industry sectors and supply relationships</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Marketplace, product development and marketing</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Workplace, consumer and global links</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9" name="Rectangle 18">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5240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Move from source-grounded knowledge → visible evidence → a supported textile decision.</a:t>
            </a:r>
          </a:p>
        </p:txBody>
      </p:sp>
      <p:sp>
        <p:nvSpPr>
          <p:cNvPr id="20" name="Rectangle: Rounded Corners 19">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Australian Textiles, Clothing.</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Australian Textiles, Clothing, Footwear and Allied Industries</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Sector relationships and flows</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Using dated evidence for current claims</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“Build the supply network” and justify one decision.</a:t>
            </a:r>
          </a:p>
        </p:txBody>
      </p:sp>
      <p:sp>
        <p:nvSpPr>
          <p:cNvPr id="8" name="Rectangle 7">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Rectangle: Rounded Corners 8">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da156ef753c742ed"/>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Notice which visible evidence supports the section’s key relationship.</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Target market and product development</a:t>
            </a:r>
          </a:p>
        </p:txBody>
      </p:sp>
      <p:cxnSp>
        <p:nvCxnSpPr>
          <p:cNvPr id="41"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Target market and product development</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Connected marketing-mix decisions</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Life-cycle position and evidence</a:t>
            </a:r>
          </a:p>
        </p:txBody>
      </p:sp>
      <p:sp>
        <p:nvSpPr>
          <p:cNvPr id="19" name="Rectangle 18">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Rectangle: Rounded Corners 19">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53" name="Picture 44"/>
          <p:cNvPicPr>
            <a:picLocks xmlns:a="http://schemas.openxmlformats.org/drawingml/2006/main" noChangeAspect="1"/>
          </p:cNvPicPr>
          <p:nvPr/>
        </p:nvPicPr>
        <p:blipFill>
          <a:blip xmlns:r="http://schemas.openxmlformats.org/officeDocument/2006/relationships" xmlns:a="http://schemas.openxmlformats.org/drawingml/2006/main" r:embed="R089a74b63c684a06"/>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22" name="Rectangle 21">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Complete “Marketing-mix constraint swap” and justify one decision.</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Connected influences across the industry</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Connected influences across the industry</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Tracing stakeholder effects and trade-offs</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Product communication as a connected decision</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“Stakeholder consequence carousel” and justify one decision.</a:t>
            </a:r>
          </a:p>
        </p:txBody>
      </p:sp>
      <p:sp>
        <p:nvSpPr>
          <p:cNvPr id="8" name="Rectangle 7">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Rectangle: Rounded Corners 8">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11ad7e6b6c884c04"/>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Notice which visible evidence supports the section’s key relationship.</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relationship—not just the definition</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1</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Industry sectors and supply relationships</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2</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Marketplace, product development and marketing</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3</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Workplace, consumer and global links</a:t>
            </a:r>
          </a:p>
        </p:txBody>
      </p:sp>
      <p:sp>
        <p:nvSpPr>
          <p:cNvPr id="19" name="Rectangle 18">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evidence-based sentence for each prompt.</a:t>
            </a:r>
          </a:p>
        </p:txBody>
      </p:sp>
      <p:sp>
        <p:nvSpPr>
          <p:cNvPr id="20" name="Rectangle: Rounded Corners 19">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400050"/>
            <a:ext cx="10287000" cy="571500"/>
          </a:xfrm>
          <a:prstGeom xmlns:a="http://schemas.openxmlformats.org/drawingml/2006/main" prst="rect">
            <a:avLst/>
          </a:prstGeom>
        </p:spPr>
        <p:txBody>
          <a:bodyPr xmlns:a="http://schemas.openxmlformats.org/drawingml/2006/main" lIns="38100" tIns="38100" rIns="38100" bIns="38100" anchor="t">
            <a:normAutofit fontScale="85979"/>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shows your thinking</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647950"/>
            <a:ext cx="2095500" cy="1600200"/>
          </a:xfrm>
          <a:prstGeom xmlns:a="http://schemas.openxmlformats.org/drawingml/2006/main" prst="rect">
            <a:avLst/>
          </a:prstGeom>
        </p:spPr>
        <p:txBody>
          <a:bodyPr xmlns:a="http://schemas.openxmlformats.org/drawingml/2006/main" lIns="38100" tIns="38100" rIns="38100" bIns="38100" anchor="ctr">
            <a:normAutofit fontScale="99272"/>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the command term and exact relationship.</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Choose relevant course evidence.</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Connect the evidence to the textile decision.</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Make a supported judgement and answer every part.</a:t>
            </a:r>
          </a:p>
        </p:txBody>
      </p:sp>
      <p:sp>
        <p:nvSpPr>
          <p:cNvPr id="8" name="Rectangle 7">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047750"/>
            <a:ext cx="10953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8622"/>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Explain how a change in consumer demand for a fictional unbranded textile product could interact with sourcing, skills and workplace decisions, and explain how these changes could influence lead time, quality expectations and product communication. Keep conclusions conditional and identify evidence that would still be required.</a:t>
            </a:r>
          </a:p>
        </p:txBody>
      </p:sp>
      <p:sp>
        <p:nvSpPr>
          <p:cNvPr id="9" name="Rectangle: Rounded Corners 8">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Rectangle: Rounded Corners 9">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Rectangle: Rounded Corners 10">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Rectangle: Rounded Corners 11">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Rectangle 12">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The evidence shows ____. This matters because ____. Therefore ____.</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one decision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76662"/>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you can now explain.</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Record the evidence that makes your reasoning convincing.</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Save one module response or activity, then carry useful evidence into My folio.</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Picture 8"/>
          <p:cNvPicPr>
            <a:picLocks xmlns:a="http://schemas.openxmlformats.org/drawingml/2006/main" noChangeAspect="1"/>
          </p:cNvPicPr>
          <p:nvPr/>
        </p:nvPicPr>
        <p:blipFill>
          <a:blip xmlns:r="http://schemas.openxmlformats.org/officeDocument/2006/relationships" xmlns:a="http://schemas.openxmlformats.org/drawingml/2006/main" r:embed="R3f23f835ef7844d7"/>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2026-08-30T09:42:18.4570000Z</dcterms:created>
  <dcterms:modified xsi:type="dcterms:W3CDTF">2026-08-30T09:42:18.4570000Z</dcterms:modified>
</coreProperties>
</file>