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ce524e5f7447a6" /><Relationship Type="http://schemas.openxmlformats.org/officeDocument/2006/relationships/extended-properties" Target="/docProps/app.xml" Id="R39c852687f554537" /><Relationship Type="http://schemas.openxmlformats.org/officeDocument/2006/relationships/officeDocument" Target="/ppt/presentation.xml" Id="R4710da23ee3e40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bcc3671373437a"/>
  </p:sldMasterIdLst>
  <p:notesMasterIdLst>
    <p:notesMasterId xmlns:r="http://schemas.openxmlformats.org/officeDocument/2006/relationships" r:id="R1f994b1c205e4d66"/>
  </p:notesMasterIdLst>
  <p:sldIdLst>
    <p:sldId xmlns:r="http://schemas.openxmlformats.org/officeDocument/2006/relationships" id="256" r:id="Rcf4d9084c63b442e"/>
    <p:sldId xmlns:r="http://schemas.openxmlformats.org/officeDocument/2006/relationships" id="257" r:id="R1cbd148dabc24075"/>
    <p:sldId xmlns:r="http://schemas.openxmlformats.org/officeDocument/2006/relationships" id="258" r:id="R813c0d9b9e3f49af"/>
    <p:sldId xmlns:r="http://schemas.openxmlformats.org/officeDocument/2006/relationships" id="259" r:id="Rbcf091158b934f50"/>
    <p:sldId xmlns:r="http://schemas.openxmlformats.org/officeDocument/2006/relationships" id="260" r:id="Ra250f7a7943f41c7"/>
    <p:sldId xmlns:r="http://schemas.openxmlformats.org/officeDocument/2006/relationships" id="261" r:id="Rb49d3289119c4f55"/>
    <p:sldId xmlns:r="http://schemas.openxmlformats.org/officeDocument/2006/relationships" id="262" r:id="R11c4d8d9be3d46d1"/>
    <p:sldId xmlns:r="http://schemas.openxmlformats.org/officeDocument/2006/relationships" id="263" r:id="Ra2fe796975f947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fce4e50f234ba2" /><Relationship Type="http://schemas.openxmlformats.org/officeDocument/2006/relationships/slideMaster" Target="/ppt/slideMasters/slideMaster1.xml" Id="R5abcc3671373437a" /><Relationship Type="http://schemas.openxmlformats.org/officeDocument/2006/relationships/notesMaster" Target="/ppt/notesMasters/notesMaster1.xml" Id="R1f994b1c205e4d66" /><Relationship Type="http://schemas.openxmlformats.org/officeDocument/2006/relationships/presProps" Target="/ppt/presProps.xml" Id="Rbd9225e9594c4ccc" /><Relationship Type="http://schemas.openxmlformats.org/officeDocument/2006/relationships/viewProps" Target="/ppt/viewProps.xml" Id="R1f083f2c46524480" /><Relationship Type="http://schemas.openxmlformats.org/officeDocument/2006/relationships/tableStyles" Target="/ppt/tableStyles.xml" Id="R93444cc2b95b492f" /><Relationship Type="http://schemas.openxmlformats.org/officeDocument/2006/relationships/slide" Target="/ppt/slides/slide1.xml" Id="Rcf4d9084c63b442e" /><Relationship Type="http://schemas.openxmlformats.org/officeDocument/2006/relationships/slide" Target="/ppt/slides/slide2.xml" Id="R1cbd148dabc24075" /><Relationship Type="http://schemas.openxmlformats.org/officeDocument/2006/relationships/slide" Target="/ppt/slides/slide3.xml" Id="R813c0d9b9e3f49af" /><Relationship Type="http://schemas.openxmlformats.org/officeDocument/2006/relationships/slide" Target="/ppt/slides/slide4.xml" Id="Rbcf091158b934f50" /><Relationship Type="http://schemas.openxmlformats.org/officeDocument/2006/relationships/slide" Target="/ppt/slides/slide5.xml" Id="Ra250f7a7943f41c7" /><Relationship Type="http://schemas.openxmlformats.org/officeDocument/2006/relationships/slide" Target="/ppt/slides/slide6.xml" Id="Rb49d3289119c4f55" /><Relationship Type="http://schemas.openxmlformats.org/officeDocument/2006/relationships/slide" Target="/ppt/slides/slide7.xml" Id="R11c4d8d9be3d46d1" /><Relationship Type="http://schemas.openxmlformats.org/officeDocument/2006/relationships/slide" Target="/ppt/slides/slide8.xml" Id="Ra2fe796975f947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e90619ab7e47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fb83a506944bd3" /><Relationship Type="http://schemas.openxmlformats.org/officeDocument/2006/relationships/notesMaster" Target="/ppt/notesMasters/notesMaster1.xml" Id="Rb38951a023e94b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566add305e4a8a" /><Relationship Type="http://schemas.openxmlformats.org/officeDocument/2006/relationships/notesMaster" Target="/ppt/notesMasters/notesMaster1.xml" Id="R14008362588e4c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fd884b568f429d" /><Relationship Type="http://schemas.openxmlformats.org/officeDocument/2006/relationships/notesMaster" Target="/ppt/notesMasters/notesMaster1.xml" Id="Rfbd69af4a7e34a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161f4fa6ba4e4c" /><Relationship Type="http://schemas.openxmlformats.org/officeDocument/2006/relationships/notesMaster" Target="/ppt/notesMasters/notesMaster1.xml" Id="R953d45a0912245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35f5f4f1cd4114" /><Relationship Type="http://schemas.openxmlformats.org/officeDocument/2006/relationships/notesMaster" Target="/ppt/notesMasters/notesMaster1.xml" Id="Rb589d3351ef342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a79656400f4cd2" /><Relationship Type="http://schemas.openxmlformats.org/officeDocument/2006/relationships/notesMaster" Target="/ppt/notesMasters/notesMaster1.xml" Id="R774a1820a0e04d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afbc804092420d" /><Relationship Type="http://schemas.openxmlformats.org/officeDocument/2006/relationships/notesMaster" Target="/ppt/notesMasters/notesMaster1.xml" Id="Ref892e22717649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1c5fd4d43e4e95" /><Relationship Type="http://schemas.openxmlformats.org/officeDocument/2006/relationships/notesMaster" Target="/ppt/notesMasters/notesMaster1.xml" Id="Rd2d5ccf4cc8949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retrieval question and give students quiet thinking time. Frame Module 6 as part of the concurrent Year 12 strands of theory, Major Textiles Project thinking and examination preparation.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SRC-WWHS-CULTURE-PROGRAM: authorised course source.</a:t>
            </a:r>
          </a:p>
          <a:p xmlns:a="http://schemas.openxmlformats.org/drawingml/2006/main">
            <a:r>
              <a:t>- course-content.js: m06s01, local source-grounded learning package.</a:t>
            </a:r>
          </a:p>
          <a:p xmlns:a="http://schemas.openxmlformats.org/drawingml/2006/main">
            <a:r>
              <a:t>- Generated visual: assets/images/m06s01.png,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three named sections as one reasoning sequence. Ask students to listen for the evidence relationship that carries from one section into the next.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SRC-WWHS-CULTURE-PROGRAM: authorised course source.</a:t>
            </a:r>
          </a:p>
          <a:p xmlns:a="http://schemas.openxmlformats.org/drawingml/2006/main">
            <a:r>
              <a:t>- course-content.js: m06,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SRC-WWHS-CULTURE-PROGRAM: authorised course source.</a:t>
            </a:r>
          </a:p>
          <a:p xmlns:a="http://schemas.openxmlformats.org/drawingml/2006/main">
            <a:r>
              <a:t>- course-content.js: m06s01, local source-grounded learning package.</a:t>
            </a:r>
          </a:p>
          <a:p xmlns:a="http://schemas.openxmlformats.org/drawingml/2006/main">
            <a:r>
              <a:t>- Generated visual: assets/images/m06s01.png,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SRC-WWHS-CULTURE-PROGRAM: authorised course source.</a:t>
            </a:r>
          </a:p>
          <a:p xmlns:a="http://schemas.openxmlformats.org/drawingml/2006/main">
            <a:r>
              <a:t>- course-content.js: m06s02, local source-grounded learning package.</a:t>
            </a:r>
          </a:p>
          <a:p xmlns:a="http://schemas.openxmlformats.org/drawingml/2006/main">
            <a:r>
              <a:t>- Generated visual: assets/images/m06s02.png,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relationships in plain language, then pause on the image. Ask students what they can observe directly and which conclusion still needs source evidence or a reasoned link.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SRC-WWHS-CULTURE-PROGRAM: authorised course source.</a:t>
            </a:r>
          </a:p>
          <a:p xmlns:a="http://schemas.openxmlformats.org/drawingml/2006/main">
            <a:r>
              <a:t>- course-content.js: m06s03, local source-grounded learning package.</a:t>
            </a:r>
          </a:p>
          <a:p xmlns:a="http://schemas.openxmlformats.org/drawingml/2006/main">
            <a:r>
              <a:t>- Generated visual: assets/images/m06s03.png,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formative pause. Invite one precise sentence for each prompt, then send students back to the matching theory when their explanation names a fact without showing the relationship.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SRC-WWHS-CULTURE-PROGRAM: authorised course source.</a:t>
            </a:r>
          </a:p>
          <a:p xmlns:a="http://schemas.openxmlformats.org/drawingml/2006/main">
            <a:r>
              <a:t>- course-content.js: m06,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finished answer. Keep the talk track moving from the command term to relevant evidence, connected explanation and a final check against the prompt.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SRC-WWHS-CULTURE-PROGRAM: authorised course source.</a:t>
            </a:r>
          </a:p>
          <a:p xmlns:a="http://schemas.openxmlformats.org/drawingml/2006/main">
            <a:r>
              <a:t>- course-content.js: m06s03, local source-grounded learning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Finish with one spoken or written exit response. Direct students to save one formative record in the module and carry only purposeful evidence into My folio; no formal submission condition is asserted here.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SRC-WWHS-SYL-2013: authorised course source.</a:t>
            </a:r>
          </a:p>
          <a:p xmlns:a="http://schemas.openxmlformats.org/drawingml/2006/main">
            <a:r>
              <a:t>- SRC-WWHS-SCOPE-2023-24: authorised course source.</a:t>
            </a:r>
          </a:p>
          <a:p xmlns:a="http://schemas.openxmlformats.org/drawingml/2006/main">
            <a:r>
              <a:t>- SRC-WWHS-TERM1-2024: authorised course source.</a:t>
            </a:r>
          </a:p>
          <a:p xmlns:a="http://schemas.openxmlformats.org/drawingml/2006/main">
            <a:r>
              <a:t>- SRC-WWHS-CULTURE-PROGRAM: authorised course source.</a:t>
            </a:r>
          </a:p>
          <a:p xmlns:a="http://schemas.openxmlformats.org/drawingml/2006/main">
            <a:r>
              <a:t>- course-content.js: m06s01, local source-grounded learning package.</a:t>
            </a:r>
          </a:p>
          <a:p xmlns:a="http://schemas.openxmlformats.org/drawingml/2006/main">
            <a:r>
              <a:t>- Generated visual: assets/images/m06s01.png, image-generation tool, 30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7f8ea9ea474e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bc3b5ea18d42c9" /><Relationship Type="http://schemas.openxmlformats.org/officeDocument/2006/relationships/slideLayout" Target="/ppt/slideLayouts/slideLayout1.xml" Id="R09942a5b05a949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942a5b05a949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c428b2b0d463a" /><Relationship Type="http://schemas.openxmlformats.org/officeDocument/2006/relationships/image" Target="/ppt/media/image.jpeg" Id="R5d6b4d34fa05434a" /><Relationship Type="http://schemas.openxmlformats.org/officeDocument/2006/relationships/notesSlide" Target="/ppt/notesSlides/notesSlide1.xml" Id="R304fdb8cb3bd4c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9afeb44d24b27" /><Relationship Type="http://schemas.openxmlformats.org/officeDocument/2006/relationships/notesSlide" Target="/ppt/notesSlides/notesSlide2.xml" Id="R5f81003193d64e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f749bfbe04182" /><Relationship Type="http://schemas.openxmlformats.org/officeDocument/2006/relationships/image" Target="/ppt/media/image2.jpeg" Id="Ra6d8266a93154e28" /><Relationship Type="http://schemas.openxmlformats.org/officeDocument/2006/relationships/notesSlide" Target="/ppt/notesSlides/notesSlide3.xml" Id="R1df65c35ad9a46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224923c244d0f" /><Relationship Type="http://schemas.openxmlformats.org/officeDocument/2006/relationships/image" Target="/ppt/media/image3.jpeg" Id="Rdc44ae7a21cb4b62" /><Relationship Type="http://schemas.openxmlformats.org/officeDocument/2006/relationships/notesSlide" Target="/ppt/notesSlides/notesSlide4.xml" Id="Raa5977a230634f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b469745724782" /><Relationship Type="http://schemas.openxmlformats.org/officeDocument/2006/relationships/image" Target="/ppt/media/image4.jpeg" Id="Rf3f21d75311f4eef" /><Relationship Type="http://schemas.openxmlformats.org/officeDocument/2006/relationships/notesSlide" Target="/ppt/notesSlides/notesSlide5.xml" Id="R8ef261bb92e245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90abe19f94ece" /><Relationship Type="http://schemas.openxmlformats.org/officeDocument/2006/relationships/notesSlide" Target="/ppt/notesSlides/notesSlide6.xml" Id="R6f897fcb7f704d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91f51ba844e30" /><Relationship Type="http://schemas.openxmlformats.org/officeDocument/2006/relationships/notesSlide" Target="/ppt/notesSlides/notesSlide7.xml" Id="Rb0d192f7ba874c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34ce2947f45d5" /><Relationship Type="http://schemas.openxmlformats.org/officeDocument/2006/relationships/image" Target="/ppt/media/image.jpeg" Id="Rfcb08de6994a4166" /><Relationship Type="http://schemas.openxmlformats.org/officeDocument/2006/relationships/notesSlide" Target="/ppt/notesSlides/notesSlide8.xml" Id="R3fc4311da75e4c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B4AE411-F9B7-40C1-95A6-EFB5A398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4953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880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50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50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Cultural Influences: Hmong Textile Traditions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DF9AAC8-8087-4CFE-AAFA-BF446210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Use contextual evidence to study Hmong textile traditions respectfully, trace documented resources and processes, and make…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9B62F67D-37CE-4D67-A50E-91C6208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YEAR 12 TEXTILES AND DESIGN · MODULE 6 · TERM 1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D7CC5B55-F07E-4B51-A25F-F034696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8150"/>
            <a:ext cx="5810250" cy="5676900"/>
          </a:xfrm>
          <a:prstGeom xmlns:a="http://schemas.openxmlformats.org/drawingml/2006/main" prst="roundRect">
            <a:avLst>
              <a:gd name="adj" fmla="val 201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b4d34fa0543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48375" y="628650"/>
            <a:ext cx="5429250" cy="5295900"/>
          </a:xfrm>
          <a:prstGeom xmlns:a="http://schemas.openxmlformats.org/drawingml/2006/main" prst="round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D1F5FE7-ECD3-4151-887C-C288444A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BEFORE YOU BEGIN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Which statement best explains how culture can influence textile design?</a:t>
            </a:r>
          </a:p>
        </p:txBody>
      </p:sp>
    </p:spTree>
    <p:extLst>
      <p:ext uri="{BB962C8B-B14F-4D97-AF65-F5344CB8AC3E}">
        <p14:creationId xmlns:p14="http://schemas.microsoft.com/office/powerpoint/2010/main" val="1728781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16595B7-F5B3-45CC-A1D0-60A5F8F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5C0B864-CE5F-40EB-BFB1-124C7F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477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43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Three sections build Cultural Influences: Hmong Textile Traditions</a:t>
            </a:r>
          </a:p>
        </p:txBody>
      </p:sp>
      <p:cxnSp>
        <p:nvCxnSpPr>
          <p:cNvPr id="37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80EBB6E6-D29B-4511-A6D6-6E24B4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7EECBE0-D327-4135-9672-CA69C10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C21CEC6-5855-4BE0-ABD8-07F8466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5F5CC1A-B730-48DE-B337-081BD18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C4FDA11-53DB-407A-BDEC-FBE50DB6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0F3AC6-594B-429C-81EE-E57F9069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666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8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2DCFFC81-D22B-4BC1-B1F8-6DFA762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Cultural context and respectful evidence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6ACFAD4-DA68-47CD-BF12-9531E0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Meanings, resources, skills and processes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8B5E93A-F297-48EF-AAD3-C5B7DD87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4193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Design influence without appropriation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8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key idea to visible evidence and a supported textile decision.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B159F23-A0CC-49B4-83D4-61338CCA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Move from source-grounded knowledge → visible evidence → a supported textile decision.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8941D7B-C927-40EF-AD75-001986D6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96418902-0D60-4955-BF78-64D12E5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6E844523-F8E9-4C62-A984-9A5A63D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952750" cy="3333750"/>
          </a:xfrm>
          <a:prstGeom xmlns:a="http://schemas.openxmlformats.org/drawingml/2006/main" prst="roundRect">
            <a:avLst>
              <a:gd name="adj" fmla="val 387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3234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B2A920B-A121-4C29-8AD9-4B493140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52F3A05-9EBE-45C1-B219-F9A8DDB8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A context lens for cultural influence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3B5522B-4811-4958-BA5B-70E2FFB7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A context lens for cultural influence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A010513-2588-46B2-9A08-569104F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Build an evidence chain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81A3EC2-FEC1-461B-AE89-5FDACA8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Worked reading: from observation to interpretation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3D79959-7930-4CBE-A084-FA4E418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“Build the evidence chain” and justify one decision.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41B4463-5DC9-4BB4-9AEB-C31EFFE5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1D285C7-4067-4681-8840-E1A99A1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8266a93154e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20C32CF-C64C-40B2-BBC3-02D81A1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Notice which visible evidence supports the section’s key relationship.</a:t>
            </a:r>
          </a:p>
        </p:txBody>
      </p:sp>
    </p:spTree>
    <p:extLst>
      <p:ext uri="{BB962C8B-B14F-4D97-AF65-F5344CB8AC3E}">
        <p14:creationId xmlns:p14="http://schemas.microsoft.com/office/powerpoint/2010/main" val="80344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B078C44-14AA-48A4-A5F1-EC8BBB1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DA065D4-4C79-4E5B-96CF-0A428EF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Trace resources, properties and processes</a:t>
            </a:r>
          </a:p>
        </p:txBody>
      </p:sp>
      <p:cxnSp>
        <p:nvCxnSpPr>
          <p:cNvPr id="41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B8329C4-AC4D-48CF-B627-84A3753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BC3E00B-0457-4BA3-B55D-A589DCD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E9ACF0A-CE3E-42C3-B7C9-B61142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E71B14A-A610-486F-B74D-69334CE0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E73360-ED41-4AE3-9474-1BE306A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21EB1A-F8DD-4B0D-A6A7-032E794F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4F29560-52C2-4511-8FC1-AAABF957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Trace resources, properties and processes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CAB6260-4966-4846-A976-124725E2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14675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Attach use or meaning only with evidence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5A797A7-58D5-4050-BDF5-3121335E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29125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Worked chain: from source description to cautious interpretation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0F14AF4-30E2-4AAF-9DB0-9EE8998D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272D4C34-16B4-4863-9EB2-19E75DB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53" name="Picture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4ae7a21cb4b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EDDDA1C-B9EE-4BC9-B3C5-1D15F9C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“Sequence the process evidence” and justify one decision.</a:t>
            </a:r>
          </a:p>
        </p:txBody>
      </p:sp>
    </p:spTree>
    <p:extLst>
      <p:ext uri="{BB962C8B-B14F-4D97-AF65-F5344CB8AC3E}">
        <p14:creationId xmlns:p14="http://schemas.microsoft.com/office/powerpoint/2010/main" val="791432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438865-7489-48C2-8699-B582E4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5E6E568-2A5A-4AC2-A37E-A11C9C08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5191125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5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Set clear boundaries for design influence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F3651F5-E7CE-4B5A-BABC-64F9FB6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01 Set clear boundaries for design influence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B69F6AD-12EB-4C3E-91C6-0362468E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02 Use a respect check before designing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94D7850-A6B2-4408-8BD6-376BFCA8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7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03 Worked decision: change direction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1B82AE-5CBD-4093-AE6F-D5E6E58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905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EVIDENCE Complete “Respectful influence decision matrix” and justify one decision.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22B54A6-2AD6-4294-B051-E413DFD7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8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3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D9658BBD-B043-4046-9981-CD40880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2450"/>
            <a:ext cx="5619750" cy="5524500"/>
          </a:xfrm>
          <a:prstGeom xmlns:a="http://schemas.openxmlformats.org/drawingml/2006/main" prst="roundRect">
            <a:avLst>
              <a:gd name="adj" fmla="val 20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21d75311f4e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00775" y="704850"/>
            <a:ext cx="5314950" cy="4000500"/>
          </a:xfrm>
          <a:prstGeom xmlns:a="http://schemas.openxmlformats.org/drawingml/2006/main" prst="roundRect">
            <a:avLst/>
          </a:prstGeom>
        </p:spPr>
      </p:pic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F1AF138-E39A-45A4-98C7-44449B6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5162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Notice which visible evidence supports the section’s key relationship.</a:t>
            </a:r>
          </a:p>
        </p:txBody>
      </p:sp>
    </p:spTree>
    <p:extLst>
      <p:ext uri="{BB962C8B-B14F-4D97-AF65-F5344CB8AC3E}">
        <p14:creationId xmlns:p14="http://schemas.microsoft.com/office/powerpoint/2010/main" val="234341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70E4CBD-8D62-4D1D-9B20-55EBF6D2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E6A61C8-FA20-4C18-8A82-D49D9EB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Retrieve the relationship—not just the definition</a:t>
            </a:r>
          </a:p>
        </p:txBody>
      </p:sp>
      <p:cxnSp>
        <p:nvCxnSpPr>
          <p:cNvPr id="37" name="Google-Shape-2259-p159-4"/>
          <p:cNvCxnSpPr/>
          <p:nvPr/>
        </p:nvCxn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74EF7E-884C-41AF-AD97-B8E18A6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41F0FA2-B455-4F2C-A2ED-34D2A8A4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EAC4B4A-5EB8-4213-97B3-853E484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AF2E796C-24F4-41C8-877A-B723CF9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97B4AB-F992-4F71-91E8-000BEA8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880C656-A3E0-4FBA-A3A3-57890DB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66950"/>
            <a:ext cx="666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FD3FD99-AFA0-4A20-B064-75652BC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1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Cultural context and respectful evidence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14E470D-3EB0-4181-9D87-AB6AC757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2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Meanings, resources, skills and processes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76F7259-3952-48F7-92C0-D5805938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14650"/>
            <a:ext cx="26670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SECTION 3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16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Use evidence to explain: Design influence without appropriation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0B13189-640C-4F85-A57E-A01655EE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Answer aloud or write one precise evidence-based sentence for each prompt.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35ED1ED7-12CC-4D64-A46D-642B399C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E4112AAD-9DD8-49E7-BBD2-BF2FE6D2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1E7C6842-406E-4A43-904C-0BFF5091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3238500" cy="2781300"/>
          </a:xfrm>
          <a:prstGeom xmlns:a="http://schemas.openxmlformats.org/drawingml/2006/main" prst="roundRect">
            <a:avLst>
              <a:gd name="adj" fmla="val 41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96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763F4E-BCA4-4B07-B025-6FEAA72E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96050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649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D369F46-2FA0-4532-839B-7271211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0287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9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Build a response that shows your thinking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2374728-E4B4-470D-AE72-552FDDD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992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Identify the command term and exact relationship.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45C2A24-1535-4D4F-BEF4-6A9C7804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SELECT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Choose relevant course evidence.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AED10BE-E00C-4A46-B1DA-CFFF3691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EXPLAIN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Connect the evidence to the textile decision.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ECE2ED3-28BC-4F59-BFE2-F9047B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47950"/>
            <a:ext cx="20955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CHECK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Make a supported judgement and answer every part.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8EFDF2A-7606-4595-951B-4CFE3BA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00" b="0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5A665F"/>
                </a:solidFill>
                <a:latin typeface="Aptos"/>
                <a:ea typeface="Aptos"/>
                <a:cs typeface="Aptos"/>
              </a:rPr>
              <a:t>Prompt: Justify a responsible design decision when cultural textile research has influenced an idea but the significance or appropriate reuse of an identifiable feature is uncertain.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834625C6-A9E5-4E32-8BDC-7B1DB61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D8B5150D-E39C-4861-A904-435C1472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7E0A2E4B-8FE2-4D98-A3C8-FE5982A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941C"/>
            </a:solidFill>
            <a:prstDash val="solid"/>
          </a:ln>
        </p:spPr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B7B1F36-8E4F-492E-A852-62EBE0D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381250"/>
            <a:ext cx="2619375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AD2AE"/>
            </a:solidFill>
            <a:prstDash val="solid"/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19AF333-CFAB-40EC-88E6-3EBDA680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00" b="1">
                <a:solidFill>
                  <a:srgbClr val="5A665F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5A665F"/>
                </a:solidFill>
                <a:latin typeface="Aptos"/>
                <a:ea typeface="Aptos"/>
                <a:cs typeface="Aptos"/>
              </a:rPr>
              <a:t>Sentence starter: The most defensible design decision is to...</a:t>
            </a:r>
          </a:p>
        </p:txBody>
      </p:sp>
    </p:spTree>
    <p:extLst>
      <p:ext uri="{BB962C8B-B14F-4D97-AF65-F5344CB8AC3E}">
        <p14:creationId xmlns:p14="http://schemas.microsoft.com/office/powerpoint/2010/main" val="1924835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FB9544D-AF55-480E-ACA9-CBF758D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5810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94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126"/>
                </a:solidFill>
                <a:latin typeface="Aptos"/>
                <a:ea typeface="Aptos"/>
                <a:cs typeface="Aptos"/>
              </a:rPr>
              <a:t>Exit ticket: carry one decision forward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7162B0B-61CF-4E28-975D-100A269E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4292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76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1. Name one relationship you can now explain.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22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2. Record the evidence that makes your reasoning convincing.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  <a:endParaRPr sz="2200" b="0">
              <a:solidFill>
                <a:srgbClr val="173126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2200" b="0">
                <a:solidFill>
                  <a:srgbClr val="173126"/>
                </a:solidFill>
                <a:latin typeface="Aptos"/>
                <a:ea typeface="Aptos"/>
                <a:cs typeface="Aptos"/>
              </a:defRPr>
            </a:pPr>
            <a:r>
              <a:rPr sz="2200" b="0">
                <a:solidFill>
                  <a:srgbClr val="173126"/>
                </a:solidFill>
                <a:latin typeface="Aptos"/>
                <a:ea typeface="Aptos"/>
                <a:cs typeface="Aptos"/>
              </a:rPr>
              <a:t>3. Save one module response or activity, then carry useful evidence into My folio.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BE888C-8D03-4186-B5D1-4BD3576D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00" b="1">
                <a:solidFill>
                  <a:srgbClr val="D8941C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D8941C"/>
                </a:solidFill>
                <a:latin typeface="Aptos"/>
                <a:ea typeface="Aptos"/>
                <a:cs typeface="Aptos"/>
              </a:rPr>
              <a:t>YOUR NEXT MOVE</a:t>
            </a:r>
          </a:p>
        </p:txBody>
      </p:sp>
      <p:pic>
        <p:nvPicPr>
          <p:cNvPr id="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08de6994a41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88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2026-08-30T09:41:51.3610000Z</dcterms:created>
  <dcterms:modified xsi:type="dcterms:W3CDTF">2026-08-30T09:41:51.3610000Z</dcterms:modified>
</coreProperties>
</file>