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9ff6cd7138423b" /><Relationship Type="http://schemas.openxmlformats.org/officeDocument/2006/relationships/extended-properties" Target="/docProps/app.xml" Id="Rbae9664287b6489d" /><Relationship Type="http://schemas.openxmlformats.org/officeDocument/2006/relationships/officeDocument" Target="/ppt/presentation.xml" Id="R655f64b047cf47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5a9ce1a6fd443c"/>
  </p:sldMasterIdLst>
  <p:notesMasterIdLst>
    <p:notesMasterId xmlns:r="http://schemas.openxmlformats.org/officeDocument/2006/relationships" r:id="R3a4c73e7b8204e81"/>
  </p:notesMasterIdLst>
  <p:sldIdLst>
    <p:sldId xmlns:r="http://schemas.openxmlformats.org/officeDocument/2006/relationships" id="256" r:id="Rb4b8ed0bb7c94742"/>
    <p:sldId xmlns:r="http://schemas.openxmlformats.org/officeDocument/2006/relationships" id="257" r:id="R0e13992708704e38"/>
    <p:sldId xmlns:r="http://schemas.openxmlformats.org/officeDocument/2006/relationships" id="258" r:id="R1537ad821143415d"/>
    <p:sldId xmlns:r="http://schemas.openxmlformats.org/officeDocument/2006/relationships" id="259" r:id="Rc44e9fa9b6ce40f5"/>
    <p:sldId xmlns:r="http://schemas.openxmlformats.org/officeDocument/2006/relationships" id="260" r:id="R1e73577049ee44d6"/>
    <p:sldId xmlns:r="http://schemas.openxmlformats.org/officeDocument/2006/relationships" id="261" r:id="Rbcf4fb3f9b154012"/>
    <p:sldId xmlns:r="http://schemas.openxmlformats.org/officeDocument/2006/relationships" id="262" r:id="R9b2a2d12ff304abb"/>
    <p:sldId xmlns:r="http://schemas.openxmlformats.org/officeDocument/2006/relationships" id="263" r:id="R4de35cb61ed04d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cbacd55e2c41df" /><Relationship Type="http://schemas.openxmlformats.org/officeDocument/2006/relationships/slideMaster" Target="/ppt/slideMasters/slideMaster1.xml" Id="R325a9ce1a6fd443c" /><Relationship Type="http://schemas.openxmlformats.org/officeDocument/2006/relationships/notesMaster" Target="/ppt/notesMasters/notesMaster1.xml" Id="R3a4c73e7b8204e81" /><Relationship Type="http://schemas.openxmlformats.org/officeDocument/2006/relationships/presProps" Target="/ppt/presProps.xml" Id="R730e3f4851e641eb" /><Relationship Type="http://schemas.openxmlformats.org/officeDocument/2006/relationships/viewProps" Target="/ppt/viewProps.xml" Id="R5c0c159500a6405c" /><Relationship Type="http://schemas.openxmlformats.org/officeDocument/2006/relationships/tableStyles" Target="/ppt/tableStyles.xml" Id="R9325cdfe151c4dee" /><Relationship Type="http://schemas.openxmlformats.org/officeDocument/2006/relationships/slide" Target="/ppt/slides/slide1.xml" Id="Rb4b8ed0bb7c94742" /><Relationship Type="http://schemas.openxmlformats.org/officeDocument/2006/relationships/slide" Target="/ppt/slides/slide2.xml" Id="R0e13992708704e38" /><Relationship Type="http://schemas.openxmlformats.org/officeDocument/2006/relationships/slide" Target="/ppt/slides/slide3.xml" Id="R1537ad821143415d" /><Relationship Type="http://schemas.openxmlformats.org/officeDocument/2006/relationships/slide" Target="/ppt/slides/slide4.xml" Id="Rc44e9fa9b6ce40f5" /><Relationship Type="http://schemas.openxmlformats.org/officeDocument/2006/relationships/slide" Target="/ppt/slides/slide5.xml" Id="R1e73577049ee44d6" /><Relationship Type="http://schemas.openxmlformats.org/officeDocument/2006/relationships/slide" Target="/ppt/slides/slide6.xml" Id="Rbcf4fb3f9b154012" /><Relationship Type="http://schemas.openxmlformats.org/officeDocument/2006/relationships/slide" Target="/ppt/slides/slide7.xml" Id="R9b2a2d12ff304abb" /><Relationship Type="http://schemas.openxmlformats.org/officeDocument/2006/relationships/slide" Target="/ppt/slides/slide8.xml" Id="R4de35cb61ed04d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9b927cbd4340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fbb19045bf4d2b" /><Relationship Type="http://schemas.openxmlformats.org/officeDocument/2006/relationships/notesMaster" Target="/ppt/notesMasters/notesMaster1.xml" Id="Rd2c0d30fdd1b4a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9289f001524d8c" /><Relationship Type="http://schemas.openxmlformats.org/officeDocument/2006/relationships/notesMaster" Target="/ppt/notesMasters/notesMaster1.xml" Id="Rdcb57b7983fd49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1b826802664f29" /><Relationship Type="http://schemas.openxmlformats.org/officeDocument/2006/relationships/notesMaster" Target="/ppt/notesMasters/notesMaster1.xml" Id="Rb88d6875a0aa4b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1260dd2b1f49d8" /><Relationship Type="http://schemas.openxmlformats.org/officeDocument/2006/relationships/notesMaster" Target="/ppt/notesMasters/notesMaster1.xml" Id="Rcfc78aef74e748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fa805f27694e1d" /><Relationship Type="http://schemas.openxmlformats.org/officeDocument/2006/relationships/notesMaster" Target="/ppt/notesMasters/notesMaster1.xml" Id="R343876ea272844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722d2be06a4a31" /><Relationship Type="http://schemas.openxmlformats.org/officeDocument/2006/relationships/notesMaster" Target="/ppt/notesMasters/notesMaster1.xml" Id="R2485b034f71f48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b8e39f88444108" /><Relationship Type="http://schemas.openxmlformats.org/officeDocument/2006/relationships/notesMaster" Target="/ppt/notesMasters/notesMaster1.xml" Id="R12afd554986f4d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672b53b5e54840" /><Relationship Type="http://schemas.openxmlformats.org/officeDocument/2006/relationships/notesMaster" Target="/ppt/notesMasters/notesMaster1.xml" Id="R45cc2307843b4c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retrieval question and give students quiet thinking time. Frame Module 2 as part of the concurrent Year 12 strands of theory, Major Textiles Project thinking and examination preparation.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SRC-WWHS-HISTORICAL-DESIGN-PROGRAM: authorised course source.</a:t>
            </a:r>
          </a:p>
          <a:p xmlns:a="http://schemas.openxmlformats.org/drawingml/2006/main">
            <a:r>
              <a:t>- course-content.js: m02s01, local source-grounded learning package.</a:t>
            </a:r>
          </a:p>
          <a:p xmlns:a="http://schemas.openxmlformats.org/drawingml/2006/main">
            <a:r>
              <a:t>- Generated visual: assets/images/m02s01.png,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three named sections as one reasoning sequence. Ask students to listen for the evidence relationship that carries from one section into the next.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SRC-WWHS-HISTORICAL-DESIGN-PROGRAM: authorised course source.</a:t>
            </a:r>
          </a:p>
          <a:p xmlns:a="http://schemas.openxmlformats.org/drawingml/2006/main">
            <a:r>
              <a:t>- course-content.js: m02,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SRC-WWHS-HISTORICAL-DESIGN-PROGRAM: authorised course source.</a:t>
            </a:r>
          </a:p>
          <a:p xmlns:a="http://schemas.openxmlformats.org/drawingml/2006/main">
            <a:r>
              <a:t>- course-content.js: m02s01, local source-grounded learning package.</a:t>
            </a:r>
          </a:p>
          <a:p xmlns:a="http://schemas.openxmlformats.org/drawingml/2006/main">
            <a:r>
              <a:t>- Generated visual: assets/images/m02s01.png,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SRC-WWHS-HISTORICAL-DESIGN-PROGRAM: authorised course source.</a:t>
            </a:r>
          </a:p>
          <a:p xmlns:a="http://schemas.openxmlformats.org/drawingml/2006/main">
            <a:r>
              <a:t>- course-content.js: m02s02, local source-grounded learning package.</a:t>
            </a:r>
          </a:p>
          <a:p xmlns:a="http://schemas.openxmlformats.org/drawingml/2006/main">
            <a:r>
              <a:t>- Generated visual: assets/images/m02s02.png,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SRC-WWHS-HISTORICAL-DESIGN-PROGRAM: authorised course source.</a:t>
            </a:r>
          </a:p>
          <a:p xmlns:a="http://schemas.openxmlformats.org/drawingml/2006/main">
            <a:r>
              <a:t>- course-content.js: m02s03, local source-grounded learning package.</a:t>
            </a:r>
          </a:p>
          <a:p xmlns:a="http://schemas.openxmlformats.org/drawingml/2006/main">
            <a:r>
              <a:t>- Generated visual: assets/images/m02s03.png,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formative pause. Invite one precise sentence for each prompt, then send students back to the matching theory when their explanation names a fact without showing the relationship.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SRC-WWHS-HISTORICAL-DESIGN-PROGRAM: authorised course source.</a:t>
            </a:r>
          </a:p>
          <a:p xmlns:a="http://schemas.openxmlformats.org/drawingml/2006/main">
            <a:r>
              <a:t>- course-content.js: m02,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answer. Keep the talk track moving from the command term to relevant evidence, connected explanation and a final check against the prompt.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SRC-WWHS-HISTORICAL-DESIGN-PROGRAM: authorised course source.</a:t>
            </a:r>
          </a:p>
          <a:p xmlns:a="http://schemas.openxmlformats.org/drawingml/2006/main">
            <a:r>
              <a:t>- course-content.js: m02s03,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one spoken or written exit response. Direct students to save one formative record in the module and carry only purposeful evidence into My folio; no formal submission condition is asserted here.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SRC-WWHS-HISTORICAL-DESIGN-PROGRAM: authorised course source.</a:t>
            </a:r>
          </a:p>
          <a:p xmlns:a="http://schemas.openxmlformats.org/drawingml/2006/main">
            <a:r>
              <a:t>- course-content.js: m02s01, local source-grounded learning package.</a:t>
            </a:r>
          </a:p>
          <a:p xmlns:a="http://schemas.openxmlformats.org/drawingml/2006/main">
            <a:r>
              <a:t>- Generated visual: assets/images/m02s01.png,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c05d248a541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f518e002b349a3" /><Relationship Type="http://schemas.openxmlformats.org/officeDocument/2006/relationships/slideLayout" Target="/ppt/slideLayouts/slideLayout1.xml" Id="Rcbfeee05256e4f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feee05256e4f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cba4c0fe443a2" /><Relationship Type="http://schemas.openxmlformats.org/officeDocument/2006/relationships/image" Target="/ppt/media/image.jpeg" Id="R1aeec67fdbd14b57" /><Relationship Type="http://schemas.openxmlformats.org/officeDocument/2006/relationships/notesSlide" Target="/ppt/notesSlides/notesSlide1.xml" Id="R1014f69ba2b349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c57c7e7d547c0" /><Relationship Type="http://schemas.openxmlformats.org/officeDocument/2006/relationships/notesSlide" Target="/ppt/notesSlides/notesSlide2.xml" Id="R7868f3d597c046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820aeeb364543" /><Relationship Type="http://schemas.openxmlformats.org/officeDocument/2006/relationships/image" Target="/ppt/media/image2.jpeg" Id="R66b3db09c5084371" /><Relationship Type="http://schemas.openxmlformats.org/officeDocument/2006/relationships/notesSlide" Target="/ppt/notesSlides/notesSlide3.xml" Id="Raad6aeb2e2934b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c7576c30c423d" /><Relationship Type="http://schemas.openxmlformats.org/officeDocument/2006/relationships/image" Target="/ppt/media/image3.jpeg" Id="R3c243a8684b54374" /><Relationship Type="http://schemas.openxmlformats.org/officeDocument/2006/relationships/notesSlide" Target="/ppt/notesSlides/notesSlide4.xml" Id="Rfd8d10d6975b49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026234213406d" /><Relationship Type="http://schemas.openxmlformats.org/officeDocument/2006/relationships/image" Target="/ppt/media/image4.jpeg" Id="R712e257c73c44c0c" /><Relationship Type="http://schemas.openxmlformats.org/officeDocument/2006/relationships/notesSlide" Target="/ppt/notesSlides/notesSlide5.xml" Id="Ra93a76d4833f4d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da029fe604e0e" /><Relationship Type="http://schemas.openxmlformats.org/officeDocument/2006/relationships/notesSlide" Target="/ppt/notesSlides/notesSlide6.xml" Id="R7fce8ccb3afe40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52fea20f2417a" /><Relationship Type="http://schemas.openxmlformats.org/officeDocument/2006/relationships/notesSlide" Target="/ppt/notesSlides/notesSlide7.xml" Id="R86233d10062d43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ee75ed5e74e5b" /><Relationship Type="http://schemas.openxmlformats.org/officeDocument/2006/relationships/image" Target="/ppt/media/image.jpeg" Id="R32dd3edec7e14016" /><Relationship Type="http://schemas.openxmlformats.org/officeDocument/2006/relationships/notesSlide" Target="/ppt/notesSlides/notesSlide8.xml" Id="R88eca9c2915844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Historical Design Development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Develops a disciplined method for tracing design change, explaining interacting factors and turning historical evidence…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12 TEXTILES AND DESIGN · MODULE 2 · TERM 4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ec67fdbd14b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makes a historical trace stronger than a simple chronological list?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47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sections build Historical Design Development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Tracing one focus area over time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Factors that shape design change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Turning historical evidence into analysis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source-grounded knowledge → visible evidence → a supported textile decision.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Trace a focus area through evidence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Trace a focus area through evidence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Use comparison lenses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Distinguish continuity from change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“Sequence, compare and annotate”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3db09c50843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Use the image as visual comparison evidence only.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factor lenses to investigate design change</a:t>
            </a:r>
          </a:p>
        </p:txBody>
      </p:sp>
      <p:cxnSp>
        <p:nvCxnSpPr>
          <p:cNvPr id="41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Use factor lenses to investigate design change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Build a because-therefore causal chain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Explain how factors interact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53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43a8684b543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“Build the strongest causal chain” and justify one decision.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Separate observation from inference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Separate observation from inference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Consider source context and reliability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Build a claim-evidence-explanation-significance chain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“Annotation clinic: evidence or overclaim?”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e257c73c44c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one feature you can directly observe.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relationship—not just the definition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Tracing one focus area over time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2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Factors that shape design change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Turning historical evidence into analysis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evidence-based sentence for each prompt.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287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command term and exact relationship.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Choose relevant course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evidence to the textile decision.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Make a supported judgement and answer every part.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explain how a student can turn visible differences between two historical textile sources into a defensible analysis of continuity and change without overclaiming.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evidence shows ____. This matters because ____. Therefore ____.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one decision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76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Record the evidence that makes your reasoning convincing.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Save one module response or activity, then carry useful evidence into My folio.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d3edec7e140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2026-08-30T09:41:34.5680000Z</dcterms:created>
  <dcterms:modified xsi:type="dcterms:W3CDTF">2026-08-30T09:41:34.5680000Z</dcterms:modified>
</coreProperties>
</file>