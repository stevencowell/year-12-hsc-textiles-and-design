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93dcc25a6f4c9e" /><Relationship Type="http://schemas.openxmlformats.org/officeDocument/2006/relationships/extended-properties" Target="/docProps/app.xml" Id="R2b4baf70f472447a" /><Relationship Type="http://schemas.openxmlformats.org/officeDocument/2006/relationships/officeDocument" Target="/ppt/presentation.xml" Id="R23c9c6abd37942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91b9a519ea4741"/>
  </p:sldMasterIdLst>
  <p:notesMasterIdLst>
    <p:notesMasterId xmlns:r="http://schemas.openxmlformats.org/officeDocument/2006/relationships" r:id="Raca4be2f5f1c45eb"/>
  </p:notesMasterIdLst>
  <p:sldIdLst>
    <p:sldId xmlns:r="http://schemas.openxmlformats.org/officeDocument/2006/relationships" id="256" r:id="R64e1ea16f8e74563"/>
    <p:sldId xmlns:r="http://schemas.openxmlformats.org/officeDocument/2006/relationships" id="257" r:id="R3a269aaf5dbc48de"/>
    <p:sldId xmlns:r="http://schemas.openxmlformats.org/officeDocument/2006/relationships" id="258" r:id="R3766dccc939a4922"/>
    <p:sldId xmlns:r="http://schemas.openxmlformats.org/officeDocument/2006/relationships" id="259" r:id="R2dbb85bc89524620"/>
    <p:sldId xmlns:r="http://schemas.openxmlformats.org/officeDocument/2006/relationships" id="260" r:id="Rca02b72af3084f14"/>
    <p:sldId xmlns:r="http://schemas.openxmlformats.org/officeDocument/2006/relationships" id="261" r:id="Rec2c37dfbe6e41a3"/>
    <p:sldId xmlns:r="http://schemas.openxmlformats.org/officeDocument/2006/relationships" id="262" r:id="R81676557d4084c9c"/>
    <p:sldId xmlns:r="http://schemas.openxmlformats.org/officeDocument/2006/relationships" id="263" r:id="R1de6bb9357e04a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aab4bc80c74ed7" /><Relationship Type="http://schemas.openxmlformats.org/officeDocument/2006/relationships/slideMaster" Target="/ppt/slideMasters/slideMaster1.xml" Id="R5c91b9a519ea4741" /><Relationship Type="http://schemas.openxmlformats.org/officeDocument/2006/relationships/notesMaster" Target="/ppt/notesMasters/notesMaster1.xml" Id="Raca4be2f5f1c45eb" /><Relationship Type="http://schemas.openxmlformats.org/officeDocument/2006/relationships/presProps" Target="/ppt/presProps.xml" Id="R4a367d0f81744b92" /><Relationship Type="http://schemas.openxmlformats.org/officeDocument/2006/relationships/viewProps" Target="/ppt/viewProps.xml" Id="R9bef57e06f1544db" /><Relationship Type="http://schemas.openxmlformats.org/officeDocument/2006/relationships/tableStyles" Target="/ppt/tableStyles.xml" Id="R02d63474babb4ce9" /><Relationship Type="http://schemas.openxmlformats.org/officeDocument/2006/relationships/slide" Target="/ppt/slides/slide1.xml" Id="R64e1ea16f8e74563" /><Relationship Type="http://schemas.openxmlformats.org/officeDocument/2006/relationships/slide" Target="/ppt/slides/slide2.xml" Id="R3a269aaf5dbc48de" /><Relationship Type="http://schemas.openxmlformats.org/officeDocument/2006/relationships/slide" Target="/ppt/slides/slide3.xml" Id="R3766dccc939a4922" /><Relationship Type="http://schemas.openxmlformats.org/officeDocument/2006/relationships/slide" Target="/ppt/slides/slide4.xml" Id="R2dbb85bc89524620" /><Relationship Type="http://schemas.openxmlformats.org/officeDocument/2006/relationships/slide" Target="/ppt/slides/slide5.xml" Id="Rca02b72af3084f14" /><Relationship Type="http://schemas.openxmlformats.org/officeDocument/2006/relationships/slide" Target="/ppt/slides/slide6.xml" Id="Rec2c37dfbe6e41a3" /><Relationship Type="http://schemas.openxmlformats.org/officeDocument/2006/relationships/slide" Target="/ppt/slides/slide7.xml" Id="R81676557d4084c9c" /><Relationship Type="http://schemas.openxmlformats.org/officeDocument/2006/relationships/slide" Target="/ppt/slides/slide8.xml" Id="R1de6bb9357e04a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e3eaf5d86e41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35a22d1a604bbb" /><Relationship Type="http://schemas.openxmlformats.org/officeDocument/2006/relationships/notesMaster" Target="/ppt/notesMasters/notesMaster1.xml" Id="R0101b943bf2f4f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bbda30c2bf4949" /><Relationship Type="http://schemas.openxmlformats.org/officeDocument/2006/relationships/notesMaster" Target="/ppt/notesMasters/notesMaster1.xml" Id="R627a478bde0841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2b5ce58ec04d3f" /><Relationship Type="http://schemas.openxmlformats.org/officeDocument/2006/relationships/notesMaster" Target="/ppt/notesMasters/notesMaster1.xml" Id="R820610ceb8fc4e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a5ecf2ce9e46f9" /><Relationship Type="http://schemas.openxmlformats.org/officeDocument/2006/relationships/notesMaster" Target="/ppt/notesMasters/notesMaster1.xml" Id="R7cc421d42f1240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5ea50ad3dd43f8" /><Relationship Type="http://schemas.openxmlformats.org/officeDocument/2006/relationships/notesMaster" Target="/ppt/notesMasters/notesMaster1.xml" Id="Rd26f14810b3644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5cf10aa9644f0e" /><Relationship Type="http://schemas.openxmlformats.org/officeDocument/2006/relationships/notesMaster" Target="/ppt/notesMasters/notesMaster1.xml" Id="R642e37a7f6c247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c177eaf0824ab6" /><Relationship Type="http://schemas.openxmlformats.org/officeDocument/2006/relationships/notesMaster" Target="/ppt/notesMasters/notesMaster1.xml" Id="Rfe5ed619f1404d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958285d635400d" /><Relationship Type="http://schemas.openxmlformats.org/officeDocument/2006/relationships/notesMaster" Target="/ppt/notesMasters/notesMaster1.xml" Id="Rd35ab8a250204e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retrieval question and give students quiet thinking time. Frame Module 3 as part of the concurrent Year 12 strands of theory, Major Textiles Project thinking and examination preparation.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SRC-WWHS-DESIGNER-PROGRAM: authorised course source.</a:t>
            </a:r>
          </a:p>
          <a:p xmlns:a="http://schemas.openxmlformats.org/drawingml/2006/main">
            <a:r>
              <a:t>- SRC-WWHS-TASK2-HISTORICAL: authorised course source.</a:t>
            </a:r>
          </a:p>
          <a:p xmlns:a="http://schemas.openxmlformats.org/drawingml/2006/main">
            <a:r>
              <a:t>- course-content.js: m03s01, local source-grounded learning package.</a:t>
            </a:r>
          </a:p>
          <a:p xmlns:a="http://schemas.openxmlformats.org/drawingml/2006/main">
            <a:r>
              <a:t>- Generated visual: assets/images/m03s01.png,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three named sections as one reasoning sequence. Ask students to listen for the evidence relationship that carries from one section into the next.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SRC-WWHS-DESIGNER-PROGRAM: authorised course source.</a:t>
            </a:r>
          </a:p>
          <a:p xmlns:a="http://schemas.openxmlformats.org/drawingml/2006/main">
            <a:r>
              <a:t>- SRC-WWHS-TASK2-HISTORICAL: authorised course source.</a:t>
            </a:r>
          </a:p>
          <a:p xmlns:a="http://schemas.openxmlformats.org/drawingml/2006/main">
            <a:r>
              <a:t>- course-content.js: m03,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SRC-WWHS-DESIGNER-PROGRAM: authorised course source.</a:t>
            </a:r>
          </a:p>
          <a:p xmlns:a="http://schemas.openxmlformats.org/drawingml/2006/main">
            <a:r>
              <a:t>- SRC-WWHS-TASK2-HISTORICAL: authorised course source.</a:t>
            </a:r>
          </a:p>
          <a:p xmlns:a="http://schemas.openxmlformats.org/drawingml/2006/main">
            <a:r>
              <a:t>- course-content.js: m03s01, local source-grounded learning package.</a:t>
            </a:r>
          </a:p>
          <a:p xmlns:a="http://schemas.openxmlformats.org/drawingml/2006/main">
            <a:r>
              <a:t>- Generated visual: assets/images/m03s01.png,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SRC-WWHS-DESIGNER-PROGRAM: authorised course source.</a:t>
            </a:r>
          </a:p>
          <a:p xmlns:a="http://schemas.openxmlformats.org/drawingml/2006/main">
            <a:r>
              <a:t>- SRC-WWHS-TASK2-HISTORICAL: authorised course source.</a:t>
            </a:r>
          </a:p>
          <a:p xmlns:a="http://schemas.openxmlformats.org/drawingml/2006/main">
            <a:r>
              <a:t>- course-content.js: m03s02, local source-grounded learning package.</a:t>
            </a:r>
          </a:p>
          <a:p xmlns:a="http://schemas.openxmlformats.org/drawingml/2006/main">
            <a:r>
              <a:t>- Generated visual: assets/images/m03s02.png,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SRC-WWHS-DESIGNER-PROGRAM: authorised course source.</a:t>
            </a:r>
          </a:p>
          <a:p xmlns:a="http://schemas.openxmlformats.org/drawingml/2006/main">
            <a:r>
              <a:t>- SRC-WWHS-TASK2-HISTORICAL: authorised course source.</a:t>
            </a:r>
          </a:p>
          <a:p xmlns:a="http://schemas.openxmlformats.org/drawingml/2006/main">
            <a:r>
              <a:t>- course-content.js: m03s03, local source-grounded learning package.</a:t>
            </a:r>
          </a:p>
          <a:p xmlns:a="http://schemas.openxmlformats.org/drawingml/2006/main">
            <a:r>
              <a:t>- Generated visual: assets/images/m03s03.png,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formative pause. Invite one precise sentence for each prompt, then send students back to the matching theory when their explanation names a fact without showing the relationship.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SRC-WWHS-DESIGNER-PROGRAM: authorised course source.</a:t>
            </a:r>
          </a:p>
          <a:p xmlns:a="http://schemas.openxmlformats.org/drawingml/2006/main">
            <a:r>
              <a:t>- SRC-WWHS-TASK2-HISTORICAL: authorised course source.</a:t>
            </a:r>
          </a:p>
          <a:p xmlns:a="http://schemas.openxmlformats.org/drawingml/2006/main">
            <a:r>
              <a:t>- course-content.js: m03,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finished answer. Keep the talk track moving from the command term to relevant evidence, connected explanation and a final check against the prompt.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SRC-WWHS-DESIGNER-PROGRAM: authorised course source.</a:t>
            </a:r>
          </a:p>
          <a:p xmlns:a="http://schemas.openxmlformats.org/drawingml/2006/main">
            <a:r>
              <a:t>- SRC-WWHS-TASK2-HISTORICAL: authorised course source.</a:t>
            </a:r>
          </a:p>
          <a:p xmlns:a="http://schemas.openxmlformats.org/drawingml/2006/main">
            <a:r>
              <a:t>- course-content.js: m03s03,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with one spoken or written exit response. Direct students to save one formative record in the module and carry only purposeful evidence into My folio; no formal submission condition is asserted here.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SRC-WWHS-DESIGNER-PROGRAM: authorised course source.</a:t>
            </a:r>
          </a:p>
          <a:p xmlns:a="http://schemas.openxmlformats.org/drawingml/2006/main">
            <a:r>
              <a:t>- SRC-WWHS-TASK2-HISTORICAL: authorised course source.</a:t>
            </a:r>
          </a:p>
          <a:p xmlns:a="http://schemas.openxmlformats.org/drawingml/2006/main">
            <a:r>
              <a:t>- course-content.js: m03s01, local source-grounded learning package.</a:t>
            </a:r>
          </a:p>
          <a:p xmlns:a="http://schemas.openxmlformats.org/drawingml/2006/main">
            <a:r>
              <a:t>- Generated visual: assets/images/m03s01.png,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f364587714a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486b879fe14192" /><Relationship Type="http://schemas.openxmlformats.org/officeDocument/2006/relationships/slideLayout" Target="/ppt/slideLayouts/slideLayout1.xml" Id="R6409ba56d86f44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09ba56d86f44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376faf35746f3" /><Relationship Type="http://schemas.openxmlformats.org/officeDocument/2006/relationships/image" Target="/ppt/media/image.jpeg" Id="Rb7155b14c7e64180" /><Relationship Type="http://schemas.openxmlformats.org/officeDocument/2006/relationships/notesSlide" Target="/ppt/notesSlides/notesSlide1.xml" Id="Rd9faed335fb44d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782d7ed3d422e" /><Relationship Type="http://schemas.openxmlformats.org/officeDocument/2006/relationships/notesSlide" Target="/ppt/notesSlides/notesSlide2.xml" Id="R4b091ebcefc246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635eaa74f4f32" /><Relationship Type="http://schemas.openxmlformats.org/officeDocument/2006/relationships/image" Target="/ppt/media/image2.jpeg" Id="R585b7a2b2f084336" /><Relationship Type="http://schemas.openxmlformats.org/officeDocument/2006/relationships/notesSlide" Target="/ppt/notesSlides/notesSlide3.xml" Id="R889dd6bcf1cb4b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60125c8c44326" /><Relationship Type="http://schemas.openxmlformats.org/officeDocument/2006/relationships/image" Target="/ppt/media/image3.jpeg" Id="R240560b64a324680" /><Relationship Type="http://schemas.openxmlformats.org/officeDocument/2006/relationships/notesSlide" Target="/ppt/notesSlides/notesSlide4.xml" Id="R18751ebde5134e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41ba17ed74795" /><Relationship Type="http://schemas.openxmlformats.org/officeDocument/2006/relationships/image" Target="/ppt/media/image4.jpeg" Id="R5564eaab8e454a8c" /><Relationship Type="http://schemas.openxmlformats.org/officeDocument/2006/relationships/notesSlide" Target="/ppt/notesSlides/notesSlide5.xml" Id="R44455e3e884a41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6c66982254f47" /><Relationship Type="http://schemas.openxmlformats.org/officeDocument/2006/relationships/notesSlide" Target="/ppt/notesSlides/notesSlide6.xml" Id="R0d23967bd33845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117de7b494ea1" /><Relationship Type="http://schemas.openxmlformats.org/officeDocument/2006/relationships/notesSlide" Target="/ppt/notesSlides/notesSlide7.xml" Id="R8740d7da9dec41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6042b407549a0" /><Relationship Type="http://schemas.openxmlformats.org/officeDocument/2006/relationships/image" Target="/ppt/media/image.jpeg" Id="R9a3b67cf04f24d24" /><Relationship Type="http://schemas.openxmlformats.org/officeDocument/2006/relationships/notesSlide" Target="/ppt/notesSlides/notesSlide8.xml" Id="Rba1100248c1945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80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Contemporary Designers and Trends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Builds evidence-based analysis of contemporary designer practice, interacting success factors and the two-way relationship…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YEAR 12 TEXTILES AND DESIGN · MODULE 3 · TERM 4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55b14c7e641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48375" y="628650"/>
            <a:ext cx="5429250" cy="5295900"/>
          </a:xfrm>
          <a:prstGeom xmlns:a="http://schemas.openxmlformats.org/drawingml/2006/main" prst="round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Which statement best describes strong evidence of a contemporary designer's practice?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47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65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sections build Contemporary Designers and Trends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Designer practice, inspiration and signature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Internal and external success factors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The relationship between designers and trends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source-grounded knowledge → visible evidence → a supported textile decision.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Designer practice: look for decisions, not just products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Designer practice: look for decisions, not just products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Inspiration: connect the claim to its source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Signature: establish a recurring pattern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“Evidence or assumption?” and justify one decision.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b7a2b2f08433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Notice which visible evidence supports the section’s key relationship.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Internal factors: what the designer can influence</a:t>
            </a:r>
          </a:p>
        </p:txBody>
      </p:sp>
      <p:cxnSp>
        <p:nvCxnSpPr>
          <p:cNvPr id="41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Internal factors: what the designer can influence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External factors: conditions beyond direct control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Interaction: explaining how factors combine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53" name="Pictur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560b64a3246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“Sort, connect and decide” and justify one decision.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makes something a trend?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What makes something a trend?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A two-way relationship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Making evidence-based claims about influence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“Build the trend-influence loop” and justify one decision.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4eaab8e454a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Trace the visual loop.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Retrieve the relationship—not just the definition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1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Designer practice, inspiration and signature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2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Internal and external success factors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3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The relationship between designers and trends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write one precise evidence-based sentence for each prompt.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287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92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the command term and exact relationship.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Choose relevant course evidence.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evidence to the textile decision.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Make a supported judgement and answer every part.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explain the two-way relationship between designers and trends, showing how a designer may respond to an existing direction while also contributing ideas that influence what appears later.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The evidence shows ____. This matters because ____. Therefore ____.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carry one decision forward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76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relationship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22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Record the evidence that makes your reasoning convincing.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22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Save one module response or activity, then carry useful evidence into My folio.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b67cf04f24d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2026-08-30T09:41:38.6180000Z</dcterms:created>
  <dcterms:modified xsi:type="dcterms:W3CDTF">2026-08-30T09:41:38.6180000Z</dcterms:modified>
</coreProperties>
</file>